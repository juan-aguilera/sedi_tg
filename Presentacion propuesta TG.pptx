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8"/>
  </p:handoutMasterIdLst>
  <p:sldIdLst>
    <p:sldId id="256" r:id="rId2"/>
    <p:sldId id="274" r:id="rId3"/>
    <p:sldId id="276" r:id="rId4"/>
    <p:sldId id="275" r:id="rId5"/>
    <p:sldId id="260" r:id="rId6"/>
    <p:sldId id="269" r:id="rId7"/>
    <p:sldId id="261" r:id="rId8"/>
    <p:sldId id="270" r:id="rId9"/>
    <p:sldId id="262" r:id="rId10"/>
    <p:sldId id="263" r:id="rId11"/>
    <p:sldId id="273" r:id="rId12"/>
    <p:sldId id="271" r:id="rId13"/>
    <p:sldId id="264" r:id="rId14"/>
    <p:sldId id="265" r:id="rId15"/>
    <p:sldId id="268" r:id="rId16"/>
    <p:sldId id="258" r:id="rId17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10" d="100"/>
          <a:sy n="110" d="100"/>
        </p:scale>
        <p:origin x="5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9" d="100"/>
          <a:sy n="59" d="100"/>
        </p:scale>
        <p:origin x="3006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BFDAFF0-1756-4F1D-96EE-6BF54E1DAEDA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903D720-1500-499C-8130-2C28AB8F71FA}">
      <dgm:prSet/>
      <dgm:spPr>
        <a:xfrm>
          <a:off x="440612" y="14423"/>
          <a:ext cx="6168572" cy="678960"/>
        </a:xfrm>
        <a:prstGeom prst="roundRect">
          <a:avLst/>
        </a:prstGeom>
      </dgm:spPr>
      <dgm:t>
        <a:bodyPr/>
        <a:lstStyle/>
        <a:p>
          <a:pPr>
            <a:buNone/>
          </a:pPr>
          <a:r>
            <a:rPr lang="es-CO">
              <a:latin typeface="Avenir Next LT Pro"/>
              <a:ea typeface="+mn-ea"/>
              <a:cs typeface="+mn-cs"/>
            </a:rPr>
            <a:t>Paso 1: </a:t>
          </a:r>
          <a:r>
            <a:rPr lang="en-US">
              <a:latin typeface="Avenir Next LT Pro"/>
              <a:ea typeface="+mn-ea"/>
              <a:cs typeface="+mn-cs"/>
            </a:rPr>
            <a:t>Preparación y exploración inicial</a:t>
          </a:r>
          <a:r>
            <a:rPr lang="es-CO">
              <a:latin typeface="Avenir Next LT Pro"/>
              <a:ea typeface="+mn-ea"/>
              <a:cs typeface="+mn-cs"/>
            </a:rPr>
            <a:t> – 1 mes</a:t>
          </a:r>
          <a:endParaRPr lang="en-US" dirty="0">
            <a:latin typeface="Avenir Next LT Pro"/>
            <a:ea typeface="+mn-ea"/>
            <a:cs typeface="+mn-cs"/>
          </a:endParaRPr>
        </a:p>
      </dgm:t>
    </dgm:pt>
    <dgm:pt modelId="{171457FE-A88F-41A8-B191-1F63C07D5E1E}" type="parTrans" cxnId="{6B23D70F-2166-4A53-871C-48E0C5ECDBAD}">
      <dgm:prSet/>
      <dgm:spPr/>
      <dgm:t>
        <a:bodyPr/>
        <a:lstStyle/>
        <a:p>
          <a:endParaRPr lang="en-US"/>
        </a:p>
      </dgm:t>
    </dgm:pt>
    <dgm:pt modelId="{A9AF4445-39AE-46A7-A2EA-75B11D8F048C}" type="sibTrans" cxnId="{6B23D70F-2166-4A53-871C-48E0C5ECDBAD}">
      <dgm:prSet/>
      <dgm:spPr/>
      <dgm:t>
        <a:bodyPr/>
        <a:lstStyle/>
        <a:p>
          <a:endParaRPr lang="en-US"/>
        </a:p>
      </dgm:t>
    </dgm:pt>
    <dgm:pt modelId="{F6223C57-50CC-4F7C-BD50-1700460FC6B1}">
      <dgm:prSet/>
      <dgm:spPr>
        <a:xfrm>
          <a:off x="440612" y="1057703"/>
          <a:ext cx="6168572" cy="678960"/>
        </a:xfrm>
        <a:prstGeom prst="roundRect">
          <a:avLst/>
        </a:prstGeom>
      </dgm:spPr>
      <dgm:t>
        <a:bodyPr/>
        <a:lstStyle/>
        <a:p>
          <a:pPr>
            <a:buNone/>
          </a:pPr>
          <a:r>
            <a:rPr lang="es-CO" dirty="0">
              <a:latin typeface="Avenir Next LT Pro"/>
              <a:ea typeface="+mn-ea"/>
              <a:cs typeface="+mn-cs"/>
            </a:rPr>
            <a:t>Paso 2: </a:t>
          </a:r>
          <a:r>
            <a:rPr lang="en-US" dirty="0" err="1">
              <a:latin typeface="Avenir Next LT Pro"/>
              <a:ea typeface="+mn-ea"/>
              <a:cs typeface="+mn-cs"/>
            </a:rPr>
            <a:t>Construcción</a:t>
          </a:r>
          <a:r>
            <a:rPr lang="en-US" dirty="0">
              <a:latin typeface="Avenir Next LT Pro"/>
              <a:ea typeface="+mn-ea"/>
              <a:cs typeface="+mn-cs"/>
            </a:rPr>
            <a:t> </a:t>
          </a:r>
          <a:r>
            <a:rPr lang="en-US" dirty="0" err="1">
              <a:latin typeface="Avenir Next LT Pro"/>
              <a:ea typeface="+mn-ea"/>
              <a:cs typeface="+mn-cs"/>
            </a:rPr>
            <a:t>grafo</a:t>
          </a:r>
          <a:r>
            <a:rPr lang="en-US" dirty="0">
              <a:latin typeface="Avenir Next LT Pro"/>
              <a:ea typeface="+mn-ea"/>
              <a:cs typeface="+mn-cs"/>
            </a:rPr>
            <a:t> de </a:t>
          </a:r>
          <a:r>
            <a:rPr lang="en-US" dirty="0" err="1">
              <a:latin typeface="Avenir Next LT Pro"/>
              <a:ea typeface="+mn-ea"/>
              <a:cs typeface="+mn-cs"/>
            </a:rPr>
            <a:t>conocimientos</a:t>
          </a:r>
          <a:r>
            <a:rPr lang="es-CO" dirty="0">
              <a:latin typeface="Avenir Next LT Pro"/>
              <a:ea typeface="+mn-ea"/>
              <a:cs typeface="+mn-cs"/>
            </a:rPr>
            <a:t>– 1 mes</a:t>
          </a:r>
          <a:endParaRPr lang="en-US" dirty="0">
            <a:latin typeface="Avenir Next LT Pro"/>
            <a:ea typeface="+mn-ea"/>
            <a:cs typeface="+mn-cs"/>
          </a:endParaRPr>
        </a:p>
      </dgm:t>
    </dgm:pt>
    <dgm:pt modelId="{5EBB49FF-22DD-4576-B8C1-BF673DD14AE0}" type="parTrans" cxnId="{C2186A6E-1215-4871-B2DB-4E4AED89F8E4}">
      <dgm:prSet/>
      <dgm:spPr/>
      <dgm:t>
        <a:bodyPr/>
        <a:lstStyle/>
        <a:p>
          <a:endParaRPr lang="en-US"/>
        </a:p>
      </dgm:t>
    </dgm:pt>
    <dgm:pt modelId="{FDE8BABB-CEAE-49C1-8F43-627FDD82A8B9}" type="sibTrans" cxnId="{C2186A6E-1215-4871-B2DB-4E4AED89F8E4}">
      <dgm:prSet/>
      <dgm:spPr/>
      <dgm:t>
        <a:bodyPr/>
        <a:lstStyle/>
        <a:p>
          <a:endParaRPr lang="en-US"/>
        </a:p>
      </dgm:t>
    </dgm:pt>
    <dgm:pt modelId="{2BAC8D9C-6B37-4C12-92A6-04B39DB0085C}">
      <dgm:prSet/>
      <dgm:spPr>
        <a:xfrm>
          <a:off x="440612" y="2100984"/>
          <a:ext cx="6168572" cy="678960"/>
        </a:xfrm>
        <a:prstGeom prst="roundRect">
          <a:avLst/>
        </a:prstGeom>
      </dgm:spPr>
      <dgm:t>
        <a:bodyPr/>
        <a:lstStyle/>
        <a:p>
          <a:pPr>
            <a:buNone/>
          </a:pPr>
          <a:r>
            <a:rPr lang="es-CO" dirty="0">
              <a:latin typeface="Avenir Next LT Pro"/>
              <a:ea typeface="+mn-ea"/>
              <a:cs typeface="+mn-cs"/>
            </a:rPr>
            <a:t>Paso 3: </a:t>
          </a:r>
          <a:r>
            <a:rPr lang="es-ES" dirty="0">
              <a:latin typeface="Avenir Next LT Pro"/>
              <a:ea typeface="+mn-ea"/>
              <a:cs typeface="+mn-cs"/>
            </a:rPr>
            <a:t>Generación de </a:t>
          </a:r>
          <a:r>
            <a:rPr lang="es-ES" dirty="0" err="1">
              <a:latin typeface="Avenir Next LT Pro"/>
              <a:ea typeface="+mn-ea"/>
              <a:cs typeface="+mn-cs"/>
            </a:rPr>
            <a:t>embeddings</a:t>
          </a:r>
          <a:r>
            <a:rPr lang="es-ES" dirty="0">
              <a:latin typeface="Avenir Next LT Pro"/>
              <a:ea typeface="+mn-ea"/>
              <a:cs typeface="+mn-cs"/>
            </a:rPr>
            <a:t> y vector </a:t>
          </a:r>
          <a:r>
            <a:rPr lang="es-ES" dirty="0" err="1">
              <a:latin typeface="Avenir Next LT Pro"/>
              <a:ea typeface="+mn-ea"/>
              <a:cs typeface="+mn-cs"/>
            </a:rPr>
            <a:t>index</a:t>
          </a:r>
          <a:r>
            <a:rPr lang="es-CO" dirty="0">
              <a:latin typeface="Avenir Next LT Pro"/>
              <a:ea typeface="+mn-ea"/>
              <a:cs typeface="+mn-cs"/>
            </a:rPr>
            <a:t> – 1 mes</a:t>
          </a:r>
          <a:endParaRPr lang="en-US" dirty="0">
            <a:latin typeface="Avenir Next LT Pro"/>
            <a:ea typeface="+mn-ea"/>
            <a:cs typeface="+mn-cs"/>
          </a:endParaRPr>
        </a:p>
      </dgm:t>
    </dgm:pt>
    <dgm:pt modelId="{DEB42ADC-E82F-4233-96E9-8DB1C2615DDC}" type="parTrans" cxnId="{A796E24D-59A2-482D-8BB6-59CD3115B7AD}">
      <dgm:prSet/>
      <dgm:spPr/>
      <dgm:t>
        <a:bodyPr/>
        <a:lstStyle/>
        <a:p>
          <a:endParaRPr lang="en-US"/>
        </a:p>
      </dgm:t>
    </dgm:pt>
    <dgm:pt modelId="{739E0400-A50E-43CA-9D16-FFD1E0729023}" type="sibTrans" cxnId="{A796E24D-59A2-482D-8BB6-59CD3115B7AD}">
      <dgm:prSet/>
      <dgm:spPr/>
      <dgm:t>
        <a:bodyPr/>
        <a:lstStyle/>
        <a:p>
          <a:endParaRPr lang="en-US"/>
        </a:p>
      </dgm:t>
    </dgm:pt>
    <dgm:pt modelId="{2D86D99A-8BE0-4C15-84A5-7CF3FDAF58CE}">
      <dgm:prSet/>
      <dgm:spPr>
        <a:xfrm>
          <a:off x="440612" y="2100984"/>
          <a:ext cx="6168572" cy="678960"/>
        </a:xfrm>
      </dgm:spPr>
      <dgm:t>
        <a:bodyPr/>
        <a:lstStyle/>
        <a:p>
          <a:r>
            <a:rPr lang="es-CO">
              <a:latin typeface="Avenir Next LT Pro"/>
              <a:ea typeface="+mn-ea"/>
              <a:cs typeface="+mn-cs"/>
            </a:rPr>
            <a:t>Paso 4: </a:t>
          </a:r>
          <a:r>
            <a:rPr lang="es-ES">
              <a:latin typeface="Avenir Next LT Pro"/>
            </a:rPr>
            <a:t>Implementación de GraphRAG (módulos de búsqueda + traversal)</a:t>
          </a:r>
          <a:r>
            <a:rPr lang="es-CO">
              <a:latin typeface="Avenir Next LT Pro"/>
              <a:ea typeface="+mn-ea"/>
              <a:cs typeface="+mn-cs"/>
            </a:rPr>
            <a:t>– 1 mes</a:t>
          </a:r>
          <a:endParaRPr lang="en-US" dirty="0">
            <a:latin typeface="Avenir Next LT Pro"/>
            <a:ea typeface="+mn-ea"/>
            <a:cs typeface="+mn-cs"/>
          </a:endParaRPr>
        </a:p>
      </dgm:t>
    </dgm:pt>
    <dgm:pt modelId="{F8CB884D-8DDF-46A4-BF8B-65DBCF722F9F}" type="parTrans" cxnId="{0B29D081-34ED-432C-9DF5-F79C30BAC68D}">
      <dgm:prSet/>
      <dgm:spPr/>
      <dgm:t>
        <a:bodyPr/>
        <a:lstStyle/>
        <a:p>
          <a:endParaRPr lang="en-US"/>
        </a:p>
      </dgm:t>
    </dgm:pt>
    <dgm:pt modelId="{8A2A8CC1-5E0D-4F09-942D-A7710FA3CE9F}" type="sibTrans" cxnId="{0B29D081-34ED-432C-9DF5-F79C30BAC68D}">
      <dgm:prSet/>
      <dgm:spPr/>
      <dgm:t>
        <a:bodyPr/>
        <a:lstStyle/>
        <a:p>
          <a:endParaRPr lang="en-US"/>
        </a:p>
      </dgm:t>
    </dgm:pt>
    <dgm:pt modelId="{E918339A-741D-489C-8AB4-596E0AB2D8DD}">
      <dgm:prSet/>
      <dgm:spPr>
        <a:xfrm>
          <a:off x="440612" y="2100984"/>
          <a:ext cx="6168572" cy="678960"/>
        </a:xfrm>
      </dgm:spPr>
      <dgm:t>
        <a:bodyPr/>
        <a:lstStyle/>
        <a:p>
          <a:r>
            <a:rPr lang="es-ES" dirty="0">
              <a:latin typeface="Avenir Next LT Pro"/>
              <a:ea typeface="+mn-ea"/>
              <a:cs typeface="+mn-cs"/>
            </a:rPr>
            <a:t>Paso 5: Implementación de Text a </a:t>
          </a:r>
          <a:r>
            <a:rPr lang="es-ES" dirty="0" err="1">
              <a:latin typeface="Avenir Next LT Pro"/>
              <a:ea typeface="+mn-ea"/>
              <a:cs typeface="+mn-cs"/>
            </a:rPr>
            <a:t>Cypher</a:t>
          </a:r>
          <a:r>
            <a:rPr lang="es-ES" dirty="0">
              <a:latin typeface="Avenir Next LT Pro"/>
              <a:ea typeface="+mn-ea"/>
              <a:cs typeface="+mn-cs"/>
            </a:rPr>
            <a:t> y agente en </a:t>
          </a:r>
          <a:r>
            <a:rPr lang="es-ES" dirty="0" err="1">
              <a:latin typeface="Avenir Next LT Pro"/>
              <a:ea typeface="+mn-ea"/>
              <a:cs typeface="+mn-cs"/>
            </a:rPr>
            <a:t>LangChain</a:t>
          </a:r>
          <a:r>
            <a:rPr lang="es-ES" dirty="0">
              <a:latin typeface="Avenir Next LT Pro"/>
              <a:ea typeface="+mn-ea"/>
              <a:cs typeface="+mn-cs"/>
            </a:rPr>
            <a:t> – 1 mes</a:t>
          </a:r>
          <a:endParaRPr lang="en-US" dirty="0">
            <a:latin typeface="Avenir Next LT Pro"/>
            <a:ea typeface="+mn-ea"/>
            <a:cs typeface="+mn-cs"/>
          </a:endParaRPr>
        </a:p>
      </dgm:t>
    </dgm:pt>
    <dgm:pt modelId="{90CD2567-AAC5-4786-A4B4-9AD7A5988F9B}" type="parTrans" cxnId="{6831766A-B1FF-4F7D-91B8-829525D3A21D}">
      <dgm:prSet/>
      <dgm:spPr/>
      <dgm:t>
        <a:bodyPr/>
        <a:lstStyle/>
        <a:p>
          <a:endParaRPr lang="en-US"/>
        </a:p>
      </dgm:t>
    </dgm:pt>
    <dgm:pt modelId="{978C0163-C336-4816-B864-5FAD417E1092}" type="sibTrans" cxnId="{6831766A-B1FF-4F7D-91B8-829525D3A21D}">
      <dgm:prSet/>
      <dgm:spPr/>
      <dgm:t>
        <a:bodyPr/>
        <a:lstStyle/>
        <a:p>
          <a:endParaRPr lang="en-US"/>
        </a:p>
      </dgm:t>
    </dgm:pt>
    <dgm:pt modelId="{0BDB8EA5-ABFB-4A11-91F6-19C2893E53D4}">
      <dgm:prSet/>
      <dgm:spPr>
        <a:xfrm>
          <a:off x="440612" y="2100984"/>
          <a:ext cx="6168572" cy="678960"/>
        </a:xfrm>
      </dgm:spPr>
      <dgm:t>
        <a:bodyPr/>
        <a:lstStyle/>
        <a:p>
          <a:r>
            <a:rPr lang="en-US" dirty="0">
              <a:latin typeface="Avenir Next LT Pro"/>
              <a:ea typeface="+mn-ea"/>
              <a:cs typeface="+mn-cs"/>
            </a:rPr>
            <a:t>Paso 6: </a:t>
          </a:r>
          <a:r>
            <a:rPr lang="en-US" dirty="0" err="1">
              <a:latin typeface="Avenir Next LT Pro"/>
              <a:ea typeface="+mn-ea"/>
              <a:cs typeface="+mn-cs"/>
            </a:rPr>
            <a:t>Implementación</a:t>
          </a:r>
          <a:r>
            <a:rPr lang="en-US" dirty="0">
              <a:latin typeface="Avenir Next LT Pro"/>
              <a:ea typeface="+mn-ea"/>
              <a:cs typeface="+mn-cs"/>
            </a:rPr>
            <a:t> de LLM-as-a-Judge – 1 </a:t>
          </a:r>
          <a:r>
            <a:rPr lang="en-US" dirty="0" err="1">
              <a:latin typeface="Avenir Next LT Pro"/>
              <a:ea typeface="+mn-ea"/>
              <a:cs typeface="+mn-cs"/>
            </a:rPr>
            <a:t>mes</a:t>
          </a:r>
          <a:endParaRPr lang="en-US" dirty="0">
            <a:latin typeface="Avenir Next LT Pro"/>
            <a:ea typeface="+mn-ea"/>
            <a:cs typeface="+mn-cs"/>
          </a:endParaRPr>
        </a:p>
      </dgm:t>
    </dgm:pt>
    <dgm:pt modelId="{8C68C502-7506-4E48-979A-449EB29C3905}" type="parTrans" cxnId="{F4987808-68F7-4239-94BC-0AAD1988059B}">
      <dgm:prSet/>
      <dgm:spPr/>
      <dgm:t>
        <a:bodyPr/>
        <a:lstStyle/>
        <a:p>
          <a:endParaRPr lang="en-US"/>
        </a:p>
      </dgm:t>
    </dgm:pt>
    <dgm:pt modelId="{6D440F73-F242-4AE4-A031-1E4AF48B72EA}" type="sibTrans" cxnId="{F4987808-68F7-4239-94BC-0AAD1988059B}">
      <dgm:prSet/>
      <dgm:spPr/>
      <dgm:t>
        <a:bodyPr/>
        <a:lstStyle/>
        <a:p>
          <a:endParaRPr lang="en-US"/>
        </a:p>
      </dgm:t>
    </dgm:pt>
    <dgm:pt modelId="{81786EFD-7C82-40DA-81A1-2CD62867419B}">
      <dgm:prSet/>
      <dgm:spPr>
        <a:xfrm>
          <a:off x="440612" y="2100984"/>
          <a:ext cx="6168572" cy="678960"/>
        </a:xfrm>
      </dgm:spPr>
      <dgm:t>
        <a:bodyPr/>
        <a:lstStyle/>
        <a:p>
          <a:r>
            <a:rPr lang="en-US" dirty="0">
              <a:latin typeface="Avenir Next LT Pro"/>
              <a:ea typeface="+mn-ea"/>
              <a:cs typeface="+mn-cs"/>
            </a:rPr>
            <a:t>Paso 7: Backend y API – 1 </a:t>
          </a:r>
          <a:r>
            <a:rPr lang="en-US" dirty="0" err="1">
              <a:latin typeface="Avenir Next LT Pro"/>
              <a:ea typeface="+mn-ea"/>
              <a:cs typeface="+mn-cs"/>
            </a:rPr>
            <a:t>mes</a:t>
          </a:r>
          <a:endParaRPr lang="en-US" dirty="0">
            <a:latin typeface="Avenir Next LT Pro"/>
            <a:ea typeface="+mn-ea"/>
            <a:cs typeface="+mn-cs"/>
          </a:endParaRPr>
        </a:p>
      </dgm:t>
    </dgm:pt>
    <dgm:pt modelId="{A6FAEEB5-3334-4366-AE68-1517FF0D2541}" type="parTrans" cxnId="{916DBE31-F2BD-4B26-A244-A7720F9B0589}">
      <dgm:prSet/>
      <dgm:spPr/>
      <dgm:t>
        <a:bodyPr/>
        <a:lstStyle/>
        <a:p>
          <a:endParaRPr lang="en-US"/>
        </a:p>
      </dgm:t>
    </dgm:pt>
    <dgm:pt modelId="{C9B5F008-7083-4C7B-AD11-DB03BE5D8EA5}" type="sibTrans" cxnId="{916DBE31-F2BD-4B26-A244-A7720F9B0589}">
      <dgm:prSet/>
      <dgm:spPr/>
      <dgm:t>
        <a:bodyPr/>
        <a:lstStyle/>
        <a:p>
          <a:endParaRPr lang="en-US"/>
        </a:p>
      </dgm:t>
    </dgm:pt>
    <dgm:pt modelId="{1F9A6B84-688C-4E64-97A5-22A4E01E163D}">
      <dgm:prSet/>
      <dgm:spPr>
        <a:xfrm>
          <a:off x="440612" y="2100984"/>
          <a:ext cx="6168572" cy="678960"/>
        </a:xfrm>
      </dgm:spPr>
      <dgm:t>
        <a:bodyPr/>
        <a:lstStyle/>
        <a:p>
          <a:r>
            <a:rPr lang="en-US" dirty="0">
              <a:latin typeface="Avenir Next LT Pro"/>
              <a:ea typeface="+mn-ea"/>
              <a:cs typeface="+mn-cs"/>
            </a:rPr>
            <a:t>Paso 8: Front-End Web y </a:t>
          </a:r>
          <a:r>
            <a:rPr lang="en-US" dirty="0" err="1">
              <a:latin typeface="Avenir Next LT Pro"/>
              <a:ea typeface="+mn-ea"/>
              <a:cs typeface="+mn-cs"/>
            </a:rPr>
            <a:t>despliegue</a:t>
          </a:r>
          <a:r>
            <a:rPr lang="en-US" dirty="0">
              <a:latin typeface="Avenir Next LT Pro"/>
              <a:ea typeface="+mn-ea"/>
              <a:cs typeface="+mn-cs"/>
            </a:rPr>
            <a:t> </a:t>
          </a:r>
          <a:r>
            <a:rPr lang="en-US" dirty="0" err="1">
              <a:latin typeface="Avenir Next LT Pro"/>
              <a:ea typeface="+mn-ea"/>
              <a:cs typeface="+mn-cs"/>
            </a:rPr>
            <a:t>en</a:t>
          </a:r>
          <a:r>
            <a:rPr lang="en-US" dirty="0">
              <a:latin typeface="Avenir Next LT Pro"/>
              <a:ea typeface="+mn-ea"/>
              <a:cs typeface="+mn-cs"/>
            </a:rPr>
            <a:t> Azure – 1 </a:t>
          </a:r>
          <a:r>
            <a:rPr lang="en-US" dirty="0" err="1">
              <a:latin typeface="Avenir Next LT Pro"/>
              <a:ea typeface="+mn-ea"/>
              <a:cs typeface="+mn-cs"/>
            </a:rPr>
            <a:t>mes</a:t>
          </a:r>
          <a:endParaRPr lang="en-US" dirty="0">
            <a:latin typeface="Avenir Next LT Pro"/>
            <a:ea typeface="+mn-ea"/>
            <a:cs typeface="+mn-cs"/>
          </a:endParaRPr>
        </a:p>
      </dgm:t>
    </dgm:pt>
    <dgm:pt modelId="{6E162531-18D0-4FFD-A2DB-7F2211BAF21C}" type="parTrans" cxnId="{8A38E703-B63F-4733-8EAA-B542A6738140}">
      <dgm:prSet/>
      <dgm:spPr/>
      <dgm:t>
        <a:bodyPr/>
        <a:lstStyle/>
        <a:p>
          <a:endParaRPr lang="en-US"/>
        </a:p>
      </dgm:t>
    </dgm:pt>
    <dgm:pt modelId="{E3048FAC-7C34-4F7A-96B8-D8A0F7182A30}" type="sibTrans" cxnId="{8A38E703-B63F-4733-8EAA-B542A6738140}">
      <dgm:prSet/>
      <dgm:spPr/>
      <dgm:t>
        <a:bodyPr/>
        <a:lstStyle/>
        <a:p>
          <a:endParaRPr lang="en-US"/>
        </a:p>
      </dgm:t>
    </dgm:pt>
    <dgm:pt modelId="{1F659003-33C6-4BBF-BD7D-E93C0D394E3F}">
      <dgm:prSet/>
      <dgm:spPr>
        <a:xfrm>
          <a:off x="440612" y="2100984"/>
          <a:ext cx="6168572" cy="678960"/>
        </a:xfrm>
      </dgm:spPr>
      <dgm:t>
        <a:bodyPr/>
        <a:lstStyle/>
        <a:p>
          <a:r>
            <a:rPr lang="es-ES" dirty="0">
              <a:latin typeface="Avenir Next LT Pro"/>
              <a:ea typeface="+mn-ea"/>
              <a:cs typeface="+mn-cs"/>
            </a:rPr>
            <a:t>Paso 9: Redacción, análisis final y entrega – 2 meses</a:t>
          </a:r>
          <a:endParaRPr lang="en-US" dirty="0">
            <a:latin typeface="Avenir Next LT Pro"/>
            <a:ea typeface="+mn-ea"/>
            <a:cs typeface="+mn-cs"/>
          </a:endParaRPr>
        </a:p>
      </dgm:t>
    </dgm:pt>
    <dgm:pt modelId="{310A6914-4E0A-403D-B905-25899AFC8729}" type="parTrans" cxnId="{FF60AAC5-109B-41C0-94AA-4C1A7F4B088B}">
      <dgm:prSet/>
      <dgm:spPr/>
      <dgm:t>
        <a:bodyPr/>
        <a:lstStyle/>
        <a:p>
          <a:endParaRPr lang="en-US"/>
        </a:p>
      </dgm:t>
    </dgm:pt>
    <dgm:pt modelId="{86202F7F-88A5-433F-A5E0-B121C321826B}" type="sibTrans" cxnId="{FF60AAC5-109B-41C0-94AA-4C1A7F4B088B}">
      <dgm:prSet/>
      <dgm:spPr/>
      <dgm:t>
        <a:bodyPr/>
        <a:lstStyle/>
        <a:p>
          <a:endParaRPr lang="en-US"/>
        </a:p>
      </dgm:t>
    </dgm:pt>
    <dgm:pt modelId="{1B4B4CFF-0374-4622-B626-D94DBC7344DF}" type="pres">
      <dgm:prSet presAssocID="{FBFDAFF0-1756-4F1D-96EE-6BF54E1DAEDA}" presName="linear" presStyleCnt="0">
        <dgm:presLayoutVars>
          <dgm:dir/>
          <dgm:animLvl val="lvl"/>
          <dgm:resizeHandles val="exact"/>
        </dgm:presLayoutVars>
      </dgm:prSet>
      <dgm:spPr/>
    </dgm:pt>
    <dgm:pt modelId="{6A94EB9F-C652-4445-8260-2FDC27B01800}" type="pres">
      <dgm:prSet presAssocID="{A903D720-1500-499C-8130-2C28AB8F71FA}" presName="parentLin" presStyleCnt="0"/>
      <dgm:spPr/>
    </dgm:pt>
    <dgm:pt modelId="{5D1C8341-6925-4855-BC5F-256CEF5B0AEE}" type="pres">
      <dgm:prSet presAssocID="{A903D720-1500-499C-8130-2C28AB8F71FA}" presName="parentLeftMargin" presStyleLbl="node1" presStyleIdx="0" presStyleCnt="9"/>
      <dgm:spPr/>
    </dgm:pt>
    <dgm:pt modelId="{DD0BD33E-0E4D-49D5-8929-510A6FF3784C}" type="pres">
      <dgm:prSet presAssocID="{A903D720-1500-499C-8130-2C28AB8F71FA}" presName="parentText" presStyleLbl="node1" presStyleIdx="0" presStyleCnt="9" custLinFactNeighborX="-72440" custLinFactNeighborY="-43389">
        <dgm:presLayoutVars>
          <dgm:chMax val="0"/>
          <dgm:bulletEnabled val="1"/>
        </dgm:presLayoutVars>
      </dgm:prSet>
      <dgm:spPr/>
    </dgm:pt>
    <dgm:pt modelId="{115357FE-D7A7-4428-A660-1395242B868C}" type="pres">
      <dgm:prSet presAssocID="{A903D720-1500-499C-8130-2C28AB8F71FA}" presName="negativeSpace" presStyleCnt="0"/>
      <dgm:spPr/>
    </dgm:pt>
    <dgm:pt modelId="{DA46D658-C31A-4A75-BA12-5C75D1335716}" type="pres">
      <dgm:prSet presAssocID="{A903D720-1500-499C-8130-2C28AB8F71FA}" presName="childText" presStyleLbl="conFgAcc1" presStyleIdx="0" presStyleCnt="9" custScaleY="171744" custLinFactY="-275893" custLinFactNeighborX="1566" custLinFactNeighborY="-300000">
        <dgm:presLayoutVars>
          <dgm:bulletEnabled val="1"/>
        </dgm:presLayoutVars>
      </dgm:prSet>
      <dgm:spPr>
        <a:xfrm>
          <a:off x="0" y="353903"/>
          <a:ext cx="8812246" cy="579600"/>
        </a:xfrm>
        <a:prstGeom prst="rect">
          <a:avLst/>
        </a:prstGeom>
      </dgm:spPr>
    </dgm:pt>
    <dgm:pt modelId="{52B3EC55-647E-4D64-91AD-B404CC142345}" type="pres">
      <dgm:prSet presAssocID="{A9AF4445-39AE-46A7-A2EA-75B11D8F048C}" presName="spaceBetweenRectangles" presStyleCnt="0"/>
      <dgm:spPr/>
    </dgm:pt>
    <dgm:pt modelId="{89141842-8078-4910-B0CF-57D40D88C8B2}" type="pres">
      <dgm:prSet presAssocID="{F6223C57-50CC-4F7C-BD50-1700460FC6B1}" presName="parentLin" presStyleCnt="0"/>
      <dgm:spPr/>
    </dgm:pt>
    <dgm:pt modelId="{CC64FFDA-F889-4A04-8D77-4ECACB0E66F3}" type="pres">
      <dgm:prSet presAssocID="{F6223C57-50CC-4F7C-BD50-1700460FC6B1}" presName="parentLeftMargin" presStyleLbl="node1" presStyleIdx="0" presStyleCnt="9"/>
      <dgm:spPr/>
    </dgm:pt>
    <dgm:pt modelId="{D5BA41A1-B422-4927-9C6A-23B0FE0D50AA}" type="pres">
      <dgm:prSet presAssocID="{F6223C57-50CC-4F7C-BD50-1700460FC6B1}" presName="parentText" presStyleLbl="node1" presStyleIdx="1" presStyleCnt="9" custLinFactNeighborX="-68083" custLinFactNeighborY="-49701">
        <dgm:presLayoutVars>
          <dgm:chMax val="0"/>
          <dgm:bulletEnabled val="1"/>
        </dgm:presLayoutVars>
      </dgm:prSet>
      <dgm:spPr/>
    </dgm:pt>
    <dgm:pt modelId="{3F417BB3-6C44-48BE-9708-51CC0EF0D28F}" type="pres">
      <dgm:prSet presAssocID="{F6223C57-50CC-4F7C-BD50-1700460FC6B1}" presName="negativeSpace" presStyleCnt="0"/>
      <dgm:spPr/>
    </dgm:pt>
    <dgm:pt modelId="{D8544221-A1E8-467D-AF24-B0255392366A}" type="pres">
      <dgm:prSet presAssocID="{F6223C57-50CC-4F7C-BD50-1700460FC6B1}" presName="childText" presStyleLbl="conFgAcc1" presStyleIdx="1" presStyleCnt="9" custScaleY="155172" custLinFactY="-100000" custLinFactNeighborY="-198453">
        <dgm:presLayoutVars>
          <dgm:bulletEnabled val="1"/>
        </dgm:presLayoutVars>
      </dgm:prSet>
      <dgm:spPr>
        <a:xfrm>
          <a:off x="0" y="1397183"/>
          <a:ext cx="8812246" cy="579600"/>
        </a:xfrm>
        <a:prstGeom prst="rect">
          <a:avLst/>
        </a:prstGeom>
      </dgm:spPr>
    </dgm:pt>
    <dgm:pt modelId="{25D25C9C-4512-4768-BB18-B7DE967BFC10}" type="pres">
      <dgm:prSet presAssocID="{FDE8BABB-CEAE-49C1-8F43-627FDD82A8B9}" presName="spaceBetweenRectangles" presStyleCnt="0"/>
      <dgm:spPr/>
    </dgm:pt>
    <dgm:pt modelId="{CCCFECB6-CADA-4D74-89F2-DC4D9EA96070}" type="pres">
      <dgm:prSet presAssocID="{2BAC8D9C-6B37-4C12-92A6-04B39DB0085C}" presName="parentLin" presStyleCnt="0"/>
      <dgm:spPr/>
    </dgm:pt>
    <dgm:pt modelId="{BF198B4D-954A-4633-ABB5-065AFDD99231}" type="pres">
      <dgm:prSet presAssocID="{2BAC8D9C-6B37-4C12-92A6-04B39DB0085C}" presName="parentLeftMargin" presStyleLbl="node1" presStyleIdx="1" presStyleCnt="9"/>
      <dgm:spPr/>
    </dgm:pt>
    <dgm:pt modelId="{0A69EE8B-0F9E-4C9F-ADD1-D795B34DC515}" type="pres">
      <dgm:prSet presAssocID="{2BAC8D9C-6B37-4C12-92A6-04B39DB0085C}" presName="parentText" presStyleLbl="node1" presStyleIdx="2" presStyleCnt="9" custLinFactNeighborX="-72222" custLinFactNeighborY="-49748">
        <dgm:presLayoutVars>
          <dgm:chMax val="0"/>
          <dgm:bulletEnabled val="1"/>
        </dgm:presLayoutVars>
      </dgm:prSet>
      <dgm:spPr/>
    </dgm:pt>
    <dgm:pt modelId="{62D61E00-CDB7-4164-B4B4-A036D4E99A2F}" type="pres">
      <dgm:prSet presAssocID="{2BAC8D9C-6B37-4C12-92A6-04B39DB0085C}" presName="negativeSpace" presStyleCnt="0"/>
      <dgm:spPr/>
    </dgm:pt>
    <dgm:pt modelId="{DC4ABC5C-11E4-43AD-9A2A-8A30E0333CD9}" type="pres">
      <dgm:prSet presAssocID="{2BAC8D9C-6B37-4C12-92A6-04B39DB0085C}" presName="childText" presStyleLbl="conFgAcc1" presStyleIdx="2" presStyleCnt="9" custScaleY="168114" custLinFactY="-100000" custLinFactNeighborY="-194413">
        <dgm:presLayoutVars>
          <dgm:bulletEnabled val="1"/>
        </dgm:presLayoutVars>
      </dgm:prSet>
      <dgm:spPr>
        <a:xfrm>
          <a:off x="0" y="2454888"/>
          <a:ext cx="8812246" cy="579600"/>
        </a:xfrm>
        <a:prstGeom prst="rect">
          <a:avLst/>
        </a:prstGeom>
      </dgm:spPr>
    </dgm:pt>
    <dgm:pt modelId="{35E2F18C-59B4-4675-8A08-040A3044AD77}" type="pres">
      <dgm:prSet presAssocID="{739E0400-A50E-43CA-9D16-FFD1E0729023}" presName="spaceBetweenRectangles" presStyleCnt="0"/>
      <dgm:spPr/>
    </dgm:pt>
    <dgm:pt modelId="{88BA02DB-06D3-47E4-AD7E-6CB87B9A3A46}" type="pres">
      <dgm:prSet presAssocID="{2D86D99A-8BE0-4C15-84A5-7CF3FDAF58CE}" presName="parentLin" presStyleCnt="0"/>
      <dgm:spPr/>
    </dgm:pt>
    <dgm:pt modelId="{511FCF53-6E7C-4E92-A721-246AD7D2EE4B}" type="pres">
      <dgm:prSet presAssocID="{2D86D99A-8BE0-4C15-84A5-7CF3FDAF58CE}" presName="parentLeftMargin" presStyleLbl="node1" presStyleIdx="2" presStyleCnt="9"/>
      <dgm:spPr>
        <a:prstGeom prst="roundRect">
          <a:avLst/>
        </a:prstGeom>
      </dgm:spPr>
    </dgm:pt>
    <dgm:pt modelId="{988D556C-72FA-4CBE-8911-81216E2C0DDE}" type="pres">
      <dgm:prSet presAssocID="{2D86D99A-8BE0-4C15-84A5-7CF3FDAF58CE}" presName="parentText" presStyleLbl="node1" presStyleIdx="3" presStyleCnt="9" custLinFactNeighborX="-67215" custLinFactNeighborY="-92785">
        <dgm:presLayoutVars>
          <dgm:chMax val="0"/>
          <dgm:bulletEnabled val="1"/>
        </dgm:presLayoutVars>
      </dgm:prSet>
      <dgm:spPr/>
    </dgm:pt>
    <dgm:pt modelId="{EE6D8344-EE07-43F6-8197-10CD31F032C3}" type="pres">
      <dgm:prSet presAssocID="{2D86D99A-8BE0-4C15-84A5-7CF3FDAF58CE}" presName="negativeSpace" presStyleCnt="0"/>
      <dgm:spPr/>
    </dgm:pt>
    <dgm:pt modelId="{E1677C0A-A7CD-40ED-BAD9-464B7BCB94B3}" type="pres">
      <dgm:prSet presAssocID="{2D86D99A-8BE0-4C15-84A5-7CF3FDAF58CE}" presName="childText" presStyleLbl="conFgAcc1" presStyleIdx="3" presStyleCnt="9" custScaleY="157998" custLinFactY="-136143" custLinFactNeighborY="-200000">
        <dgm:presLayoutVars>
          <dgm:bulletEnabled val="1"/>
        </dgm:presLayoutVars>
      </dgm:prSet>
      <dgm:spPr/>
    </dgm:pt>
    <dgm:pt modelId="{3CBC5216-075E-469E-A323-E52E6A722020}" type="pres">
      <dgm:prSet presAssocID="{8A2A8CC1-5E0D-4F09-942D-A7710FA3CE9F}" presName="spaceBetweenRectangles" presStyleCnt="0"/>
      <dgm:spPr/>
    </dgm:pt>
    <dgm:pt modelId="{CDD09E8B-7FF1-482F-95B7-D610D3860406}" type="pres">
      <dgm:prSet presAssocID="{E918339A-741D-489C-8AB4-596E0AB2D8DD}" presName="parentLin" presStyleCnt="0"/>
      <dgm:spPr/>
    </dgm:pt>
    <dgm:pt modelId="{481C272F-4DE5-4ACF-B53F-94E5322EC765}" type="pres">
      <dgm:prSet presAssocID="{E918339A-741D-489C-8AB4-596E0AB2D8DD}" presName="parentLeftMargin" presStyleLbl="node1" presStyleIdx="3" presStyleCnt="9"/>
      <dgm:spPr/>
    </dgm:pt>
    <dgm:pt modelId="{7942C5E3-F364-4045-94B1-6DAB7732593D}" type="pres">
      <dgm:prSet presAssocID="{E918339A-741D-489C-8AB4-596E0AB2D8DD}" presName="parentText" presStyleLbl="node1" presStyleIdx="4" presStyleCnt="9" custLinFactY="-11450" custLinFactNeighborX="-79404" custLinFactNeighborY="-100000">
        <dgm:presLayoutVars>
          <dgm:chMax val="0"/>
          <dgm:bulletEnabled val="1"/>
        </dgm:presLayoutVars>
      </dgm:prSet>
      <dgm:spPr/>
    </dgm:pt>
    <dgm:pt modelId="{447A7AE4-081A-45AD-87F7-505C881A9E17}" type="pres">
      <dgm:prSet presAssocID="{E918339A-741D-489C-8AB4-596E0AB2D8DD}" presName="negativeSpace" presStyleCnt="0"/>
      <dgm:spPr/>
    </dgm:pt>
    <dgm:pt modelId="{732BA99E-7234-4E66-92FD-0A52100705F0}" type="pres">
      <dgm:prSet presAssocID="{E918339A-741D-489C-8AB4-596E0AB2D8DD}" presName="childText" presStyleLbl="conFgAcc1" presStyleIdx="4" presStyleCnt="9" custScaleY="136201" custLinFactY="-154102" custLinFactNeighborY="-200000">
        <dgm:presLayoutVars>
          <dgm:bulletEnabled val="1"/>
        </dgm:presLayoutVars>
      </dgm:prSet>
      <dgm:spPr/>
    </dgm:pt>
    <dgm:pt modelId="{724C5E00-D332-452C-AA38-2114714200A4}" type="pres">
      <dgm:prSet presAssocID="{978C0163-C336-4816-B864-5FAD417E1092}" presName="spaceBetweenRectangles" presStyleCnt="0"/>
      <dgm:spPr/>
    </dgm:pt>
    <dgm:pt modelId="{74C6F69E-A198-4160-B609-CF4FBC1CC78D}" type="pres">
      <dgm:prSet presAssocID="{0BDB8EA5-ABFB-4A11-91F6-19C2893E53D4}" presName="parentLin" presStyleCnt="0"/>
      <dgm:spPr/>
    </dgm:pt>
    <dgm:pt modelId="{ACDECC7D-7BED-4E6A-BFD7-359D400A995F}" type="pres">
      <dgm:prSet presAssocID="{0BDB8EA5-ABFB-4A11-91F6-19C2893E53D4}" presName="parentLeftMargin" presStyleLbl="node1" presStyleIdx="4" presStyleCnt="9"/>
      <dgm:spPr/>
    </dgm:pt>
    <dgm:pt modelId="{20A9E7A4-CB87-4900-9A13-353A586ED04E}" type="pres">
      <dgm:prSet presAssocID="{0BDB8EA5-ABFB-4A11-91F6-19C2893E53D4}" presName="parentText" presStyleLbl="node1" presStyleIdx="5" presStyleCnt="9" custLinFactY="-13967" custLinFactNeighborX="-76607" custLinFactNeighborY="-100000">
        <dgm:presLayoutVars>
          <dgm:chMax val="0"/>
          <dgm:bulletEnabled val="1"/>
        </dgm:presLayoutVars>
      </dgm:prSet>
      <dgm:spPr/>
    </dgm:pt>
    <dgm:pt modelId="{EFE9B06F-70B3-4200-8504-07A87E64B2A7}" type="pres">
      <dgm:prSet presAssocID="{0BDB8EA5-ABFB-4A11-91F6-19C2893E53D4}" presName="negativeSpace" presStyleCnt="0"/>
      <dgm:spPr/>
    </dgm:pt>
    <dgm:pt modelId="{897C5F65-5264-42D0-B5A5-E2DE19C46CF4}" type="pres">
      <dgm:prSet presAssocID="{0BDB8EA5-ABFB-4A11-91F6-19C2893E53D4}" presName="childText" presStyleLbl="conFgAcc1" presStyleIdx="5" presStyleCnt="9" custScaleY="133412" custLinFactY="-155687" custLinFactNeighborY="-200000">
        <dgm:presLayoutVars>
          <dgm:bulletEnabled val="1"/>
        </dgm:presLayoutVars>
      </dgm:prSet>
      <dgm:spPr/>
    </dgm:pt>
    <dgm:pt modelId="{FD629C56-CD11-4CFC-9505-C6321BFC9777}" type="pres">
      <dgm:prSet presAssocID="{6D440F73-F242-4AE4-A031-1E4AF48B72EA}" presName="spaceBetweenRectangles" presStyleCnt="0"/>
      <dgm:spPr/>
    </dgm:pt>
    <dgm:pt modelId="{A042734D-1278-4504-A14D-56B9F41F8E18}" type="pres">
      <dgm:prSet presAssocID="{81786EFD-7C82-40DA-81A1-2CD62867419B}" presName="parentLin" presStyleCnt="0"/>
      <dgm:spPr/>
    </dgm:pt>
    <dgm:pt modelId="{8BD98DA3-7587-44CC-A945-3F04F878F531}" type="pres">
      <dgm:prSet presAssocID="{81786EFD-7C82-40DA-81A1-2CD62867419B}" presName="parentLeftMargin" presStyleLbl="node1" presStyleIdx="5" presStyleCnt="9"/>
      <dgm:spPr/>
    </dgm:pt>
    <dgm:pt modelId="{52D4F5BB-F2D1-483C-AB64-3C0216D5C5AA}" type="pres">
      <dgm:prSet presAssocID="{81786EFD-7C82-40DA-81A1-2CD62867419B}" presName="parentText" presStyleLbl="node1" presStyleIdx="6" presStyleCnt="9" custLinFactNeighborX="-73125" custLinFactNeighborY="-90589">
        <dgm:presLayoutVars>
          <dgm:chMax val="0"/>
          <dgm:bulletEnabled val="1"/>
        </dgm:presLayoutVars>
      </dgm:prSet>
      <dgm:spPr/>
    </dgm:pt>
    <dgm:pt modelId="{9B1E41CC-A94E-4920-A151-8D334597BB9B}" type="pres">
      <dgm:prSet presAssocID="{81786EFD-7C82-40DA-81A1-2CD62867419B}" presName="negativeSpace" presStyleCnt="0"/>
      <dgm:spPr/>
    </dgm:pt>
    <dgm:pt modelId="{BBD63C01-376E-4C08-8294-FC6626B7ADD1}" type="pres">
      <dgm:prSet presAssocID="{81786EFD-7C82-40DA-81A1-2CD62867419B}" presName="childText" presStyleLbl="conFgAcc1" presStyleIdx="6" presStyleCnt="9" custScaleY="130244" custLinFactY="-131725" custLinFactNeighborY="-200000">
        <dgm:presLayoutVars>
          <dgm:bulletEnabled val="1"/>
        </dgm:presLayoutVars>
      </dgm:prSet>
      <dgm:spPr/>
    </dgm:pt>
    <dgm:pt modelId="{D1BBD4F2-349C-46CD-9B8A-BACCB6AB22CE}" type="pres">
      <dgm:prSet presAssocID="{C9B5F008-7083-4C7B-AD11-DB03BE5D8EA5}" presName="spaceBetweenRectangles" presStyleCnt="0"/>
      <dgm:spPr/>
    </dgm:pt>
    <dgm:pt modelId="{80633030-AB7D-4A5C-91C3-8C26F2E82F08}" type="pres">
      <dgm:prSet presAssocID="{1F9A6B84-688C-4E64-97A5-22A4E01E163D}" presName="parentLin" presStyleCnt="0"/>
      <dgm:spPr/>
    </dgm:pt>
    <dgm:pt modelId="{FBCBE08A-C54C-4E52-9C7C-9A4549D832D5}" type="pres">
      <dgm:prSet presAssocID="{1F9A6B84-688C-4E64-97A5-22A4E01E163D}" presName="parentLeftMargin" presStyleLbl="node1" presStyleIdx="6" presStyleCnt="9"/>
      <dgm:spPr/>
    </dgm:pt>
    <dgm:pt modelId="{32A8A988-F9D1-4AF5-AE38-7C768D82BF96}" type="pres">
      <dgm:prSet presAssocID="{1F9A6B84-688C-4E64-97A5-22A4E01E163D}" presName="parentText" presStyleLbl="node1" presStyleIdx="7" presStyleCnt="9" custLinFactNeighborX="-76607" custLinFactNeighborY="-70134">
        <dgm:presLayoutVars>
          <dgm:chMax val="0"/>
          <dgm:bulletEnabled val="1"/>
        </dgm:presLayoutVars>
      </dgm:prSet>
      <dgm:spPr/>
    </dgm:pt>
    <dgm:pt modelId="{9B1FB121-5373-4010-B2B2-853EB2062D30}" type="pres">
      <dgm:prSet presAssocID="{1F9A6B84-688C-4E64-97A5-22A4E01E163D}" presName="negativeSpace" presStyleCnt="0"/>
      <dgm:spPr/>
    </dgm:pt>
    <dgm:pt modelId="{16A0660D-4C60-4675-9CC3-07C5529896CE}" type="pres">
      <dgm:prSet presAssocID="{1F9A6B84-688C-4E64-97A5-22A4E01E163D}" presName="childText" presStyleLbl="conFgAcc1" presStyleIdx="7" presStyleCnt="9" custScaleY="150460" custLinFactY="-118032" custLinFactNeighborY="-200000">
        <dgm:presLayoutVars>
          <dgm:bulletEnabled val="1"/>
        </dgm:presLayoutVars>
      </dgm:prSet>
      <dgm:spPr/>
    </dgm:pt>
    <dgm:pt modelId="{4AB42792-03C6-448C-B8F8-189EAE7CDD97}" type="pres">
      <dgm:prSet presAssocID="{E3048FAC-7C34-4F7A-96B8-D8A0F7182A30}" presName="spaceBetweenRectangles" presStyleCnt="0"/>
      <dgm:spPr/>
    </dgm:pt>
    <dgm:pt modelId="{15F50DF4-7CD4-4A7D-93A3-A71651240903}" type="pres">
      <dgm:prSet presAssocID="{1F659003-33C6-4BBF-BD7D-E93C0D394E3F}" presName="parentLin" presStyleCnt="0"/>
      <dgm:spPr/>
    </dgm:pt>
    <dgm:pt modelId="{30AF81B6-1A1B-4CFC-B612-6F5FE1F363EF}" type="pres">
      <dgm:prSet presAssocID="{1F659003-33C6-4BBF-BD7D-E93C0D394E3F}" presName="parentLeftMargin" presStyleLbl="node1" presStyleIdx="7" presStyleCnt="9"/>
      <dgm:spPr/>
    </dgm:pt>
    <dgm:pt modelId="{8C4C94F9-1CF5-404A-97E6-8143A4103EAC}" type="pres">
      <dgm:prSet presAssocID="{1F659003-33C6-4BBF-BD7D-E93C0D394E3F}" presName="parentText" presStyleLbl="node1" presStyleIdx="8" presStyleCnt="9" custLinFactNeighborX="-80090" custLinFactNeighborY="-64939">
        <dgm:presLayoutVars>
          <dgm:chMax val="0"/>
          <dgm:bulletEnabled val="1"/>
        </dgm:presLayoutVars>
      </dgm:prSet>
      <dgm:spPr/>
    </dgm:pt>
    <dgm:pt modelId="{DA73F958-7B4D-41CB-8B3C-23DA3A15F8DA}" type="pres">
      <dgm:prSet presAssocID="{1F659003-33C6-4BBF-BD7D-E93C0D394E3F}" presName="negativeSpace" presStyleCnt="0"/>
      <dgm:spPr/>
    </dgm:pt>
    <dgm:pt modelId="{B51F8023-7AC3-4566-B844-C1C6D10EF06D}" type="pres">
      <dgm:prSet presAssocID="{1F659003-33C6-4BBF-BD7D-E93C0D394E3F}" presName="childText" presStyleLbl="conFgAcc1" presStyleIdx="8" presStyleCnt="9" custScaleY="157949" custLinFactY="-98895" custLinFactNeighborY="-100000">
        <dgm:presLayoutVars>
          <dgm:bulletEnabled val="1"/>
        </dgm:presLayoutVars>
      </dgm:prSet>
      <dgm:spPr/>
    </dgm:pt>
  </dgm:ptLst>
  <dgm:cxnLst>
    <dgm:cxn modelId="{8A38E703-B63F-4733-8EAA-B542A6738140}" srcId="{FBFDAFF0-1756-4F1D-96EE-6BF54E1DAEDA}" destId="{1F9A6B84-688C-4E64-97A5-22A4E01E163D}" srcOrd="7" destOrd="0" parTransId="{6E162531-18D0-4FFD-A2DB-7F2211BAF21C}" sibTransId="{E3048FAC-7C34-4F7A-96B8-D8A0F7182A30}"/>
    <dgm:cxn modelId="{F4987808-68F7-4239-94BC-0AAD1988059B}" srcId="{FBFDAFF0-1756-4F1D-96EE-6BF54E1DAEDA}" destId="{0BDB8EA5-ABFB-4A11-91F6-19C2893E53D4}" srcOrd="5" destOrd="0" parTransId="{8C68C502-7506-4E48-979A-449EB29C3905}" sibTransId="{6D440F73-F242-4AE4-A031-1E4AF48B72EA}"/>
    <dgm:cxn modelId="{6B23D70F-2166-4A53-871C-48E0C5ECDBAD}" srcId="{FBFDAFF0-1756-4F1D-96EE-6BF54E1DAEDA}" destId="{A903D720-1500-499C-8130-2C28AB8F71FA}" srcOrd="0" destOrd="0" parTransId="{171457FE-A88F-41A8-B191-1F63C07D5E1E}" sibTransId="{A9AF4445-39AE-46A7-A2EA-75B11D8F048C}"/>
    <dgm:cxn modelId="{B6073F14-3B1B-4583-A734-749B0FAFBA56}" type="presOf" srcId="{0BDB8EA5-ABFB-4A11-91F6-19C2893E53D4}" destId="{ACDECC7D-7BED-4E6A-BFD7-359D400A995F}" srcOrd="0" destOrd="0" presId="urn:microsoft.com/office/officeart/2005/8/layout/list1"/>
    <dgm:cxn modelId="{F5D87423-1570-4371-907D-E34821616E5A}" type="presOf" srcId="{2D86D99A-8BE0-4C15-84A5-7CF3FDAF58CE}" destId="{511FCF53-6E7C-4E92-A721-246AD7D2EE4B}" srcOrd="0" destOrd="0" presId="urn:microsoft.com/office/officeart/2005/8/layout/list1"/>
    <dgm:cxn modelId="{9F37B52F-59AE-4FD0-808C-9EBE796B87E6}" type="presOf" srcId="{81786EFD-7C82-40DA-81A1-2CD62867419B}" destId="{8BD98DA3-7587-44CC-A945-3F04F878F531}" srcOrd="0" destOrd="0" presId="urn:microsoft.com/office/officeart/2005/8/layout/list1"/>
    <dgm:cxn modelId="{916DBE31-F2BD-4B26-A244-A7720F9B0589}" srcId="{FBFDAFF0-1756-4F1D-96EE-6BF54E1DAEDA}" destId="{81786EFD-7C82-40DA-81A1-2CD62867419B}" srcOrd="6" destOrd="0" parTransId="{A6FAEEB5-3334-4366-AE68-1517FF0D2541}" sibTransId="{C9B5F008-7083-4C7B-AD11-DB03BE5D8EA5}"/>
    <dgm:cxn modelId="{6831766A-B1FF-4F7D-91B8-829525D3A21D}" srcId="{FBFDAFF0-1756-4F1D-96EE-6BF54E1DAEDA}" destId="{E918339A-741D-489C-8AB4-596E0AB2D8DD}" srcOrd="4" destOrd="0" parTransId="{90CD2567-AAC5-4786-A4B4-9AD7A5988F9B}" sibTransId="{978C0163-C336-4816-B864-5FAD417E1092}"/>
    <dgm:cxn modelId="{A796E24D-59A2-482D-8BB6-59CD3115B7AD}" srcId="{FBFDAFF0-1756-4F1D-96EE-6BF54E1DAEDA}" destId="{2BAC8D9C-6B37-4C12-92A6-04B39DB0085C}" srcOrd="2" destOrd="0" parTransId="{DEB42ADC-E82F-4233-96E9-8DB1C2615DDC}" sibTransId="{739E0400-A50E-43CA-9D16-FFD1E0729023}"/>
    <dgm:cxn modelId="{C2186A6E-1215-4871-B2DB-4E4AED89F8E4}" srcId="{FBFDAFF0-1756-4F1D-96EE-6BF54E1DAEDA}" destId="{F6223C57-50CC-4F7C-BD50-1700460FC6B1}" srcOrd="1" destOrd="0" parTransId="{5EBB49FF-22DD-4576-B8C1-BF673DD14AE0}" sibTransId="{FDE8BABB-CEAE-49C1-8F43-627FDD82A8B9}"/>
    <dgm:cxn modelId="{D6501051-3CB1-4E5B-A09D-F1F687A183EC}" type="presOf" srcId="{1F659003-33C6-4BBF-BD7D-E93C0D394E3F}" destId="{8C4C94F9-1CF5-404A-97E6-8143A4103EAC}" srcOrd="1" destOrd="0" presId="urn:microsoft.com/office/officeart/2005/8/layout/list1"/>
    <dgm:cxn modelId="{8006CE71-6E41-45A5-80EF-168F93B55345}" type="presOf" srcId="{0BDB8EA5-ABFB-4A11-91F6-19C2893E53D4}" destId="{20A9E7A4-CB87-4900-9A13-353A586ED04E}" srcOrd="1" destOrd="0" presId="urn:microsoft.com/office/officeart/2005/8/layout/list1"/>
    <dgm:cxn modelId="{A37AA773-5F4E-4FA3-B724-D6533E56F788}" type="presOf" srcId="{F6223C57-50CC-4F7C-BD50-1700460FC6B1}" destId="{D5BA41A1-B422-4927-9C6A-23B0FE0D50AA}" srcOrd="1" destOrd="0" presId="urn:microsoft.com/office/officeart/2005/8/layout/list1"/>
    <dgm:cxn modelId="{0B29D081-34ED-432C-9DF5-F79C30BAC68D}" srcId="{FBFDAFF0-1756-4F1D-96EE-6BF54E1DAEDA}" destId="{2D86D99A-8BE0-4C15-84A5-7CF3FDAF58CE}" srcOrd="3" destOrd="0" parTransId="{F8CB884D-8DDF-46A4-BF8B-65DBCF722F9F}" sibTransId="{8A2A8CC1-5E0D-4F09-942D-A7710FA3CE9F}"/>
    <dgm:cxn modelId="{A36AC082-E8CE-45B1-9940-0A407432F9C8}" type="presOf" srcId="{81786EFD-7C82-40DA-81A1-2CD62867419B}" destId="{52D4F5BB-F2D1-483C-AB64-3C0216D5C5AA}" srcOrd="1" destOrd="0" presId="urn:microsoft.com/office/officeart/2005/8/layout/list1"/>
    <dgm:cxn modelId="{7CFD8895-9D36-4C4F-AF1D-C8827C2C6314}" type="presOf" srcId="{1F9A6B84-688C-4E64-97A5-22A4E01E163D}" destId="{FBCBE08A-C54C-4E52-9C7C-9A4549D832D5}" srcOrd="0" destOrd="0" presId="urn:microsoft.com/office/officeart/2005/8/layout/list1"/>
    <dgm:cxn modelId="{95B37F99-DCB2-410B-ACDC-F8A55F4FFA5B}" type="presOf" srcId="{E918339A-741D-489C-8AB4-596E0AB2D8DD}" destId="{481C272F-4DE5-4ACF-B53F-94E5322EC765}" srcOrd="0" destOrd="0" presId="urn:microsoft.com/office/officeart/2005/8/layout/list1"/>
    <dgm:cxn modelId="{9D0196AB-92E0-4E48-9A9A-06041EFFF6B9}" type="presOf" srcId="{2BAC8D9C-6B37-4C12-92A6-04B39DB0085C}" destId="{0A69EE8B-0F9E-4C9F-ADD1-D795B34DC515}" srcOrd="1" destOrd="0" presId="urn:microsoft.com/office/officeart/2005/8/layout/list1"/>
    <dgm:cxn modelId="{57970DAD-8A86-4617-B802-F728BB521FC0}" type="presOf" srcId="{FBFDAFF0-1756-4F1D-96EE-6BF54E1DAEDA}" destId="{1B4B4CFF-0374-4622-B626-D94DBC7344DF}" srcOrd="0" destOrd="0" presId="urn:microsoft.com/office/officeart/2005/8/layout/list1"/>
    <dgm:cxn modelId="{01B2D9B6-1D92-4083-B026-B4954488F555}" type="presOf" srcId="{1F659003-33C6-4BBF-BD7D-E93C0D394E3F}" destId="{30AF81B6-1A1B-4CFC-B612-6F5FE1F363EF}" srcOrd="0" destOrd="0" presId="urn:microsoft.com/office/officeart/2005/8/layout/list1"/>
    <dgm:cxn modelId="{2926BDBA-250C-4D25-BB22-B307638F4E1A}" type="presOf" srcId="{A903D720-1500-499C-8130-2C28AB8F71FA}" destId="{5D1C8341-6925-4855-BC5F-256CEF5B0AEE}" srcOrd="0" destOrd="0" presId="urn:microsoft.com/office/officeart/2005/8/layout/list1"/>
    <dgm:cxn modelId="{8A990FBE-C440-4C91-AB16-2C90CE139D08}" type="presOf" srcId="{A903D720-1500-499C-8130-2C28AB8F71FA}" destId="{DD0BD33E-0E4D-49D5-8929-510A6FF3784C}" srcOrd="1" destOrd="0" presId="urn:microsoft.com/office/officeart/2005/8/layout/list1"/>
    <dgm:cxn modelId="{F6D07DC2-AC02-461C-8996-24EC91A84986}" type="presOf" srcId="{F6223C57-50CC-4F7C-BD50-1700460FC6B1}" destId="{CC64FFDA-F889-4A04-8D77-4ECACB0E66F3}" srcOrd="0" destOrd="0" presId="urn:microsoft.com/office/officeart/2005/8/layout/list1"/>
    <dgm:cxn modelId="{FF60AAC5-109B-41C0-94AA-4C1A7F4B088B}" srcId="{FBFDAFF0-1756-4F1D-96EE-6BF54E1DAEDA}" destId="{1F659003-33C6-4BBF-BD7D-E93C0D394E3F}" srcOrd="8" destOrd="0" parTransId="{310A6914-4E0A-403D-B905-25899AFC8729}" sibTransId="{86202F7F-88A5-433F-A5E0-B121C321826B}"/>
    <dgm:cxn modelId="{91B493F1-C835-4F80-83F5-96A3CBF89259}" type="presOf" srcId="{2BAC8D9C-6B37-4C12-92A6-04B39DB0085C}" destId="{BF198B4D-954A-4633-ABB5-065AFDD99231}" srcOrd="0" destOrd="0" presId="urn:microsoft.com/office/officeart/2005/8/layout/list1"/>
    <dgm:cxn modelId="{4C4E50FC-52AE-46B5-B472-EC80E1DD8589}" type="presOf" srcId="{2D86D99A-8BE0-4C15-84A5-7CF3FDAF58CE}" destId="{988D556C-72FA-4CBE-8911-81216E2C0DDE}" srcOrd="1" destOrd="0" presId="urn:microsoft.com/office/officeart/2005/8/layout/list1"/>
    <dgm:cxn modelId="{13F2ADFC-DF44-4D5A-8537-39CFC4F0F583}" type="presOf" srcId="{E918339A-741D-489C-8AB4-596E0AB2D8DD}" destId="{7942C5E3-F364-4045-94B1-6DAB7732593D}" srcOrd="1" destOrd="0" presId="urn:microsoft.com/office/officeart/2005/8/layout/list1"/>
    <dgm:cxn modelId="{2D558EFE-5981-4969-98D9-7C578825D6AF}" type="presOf" srcId="{1F9A6B84-688C-4E64-97A5-22A4E01E163D}" destId="{32A8A988-F9D1-4AF5-AE38-7C768D82BF96}" srcOrd="1" destOrd="0" presId="urn:microsoft.com/office/officeart/2005/8/layout/list1"/>
    <dgm:cxn modelId="{2E471210-AA4B-44CC-B6AE-78A7A07A884A}" type="presParOf" srcId="{1B4B4CFF-0374-4622-B626-D94DBC7344DF}" destId="{6A94EB9F-C652-4445-8260-2FDC27B01800}" srcOrd="0" destOrd="0" presId="urn:microsoft.com/office/officeart/2005/8/layout/list1"/>
    <dgm:cxn modelId="{FD8370C5-3310-47EC-B5FA-C4B3ED817495}" type="presParOf" srcId="{6A94EB9F-C652-4445-8260-2FDC27B01800}" destId="{5D1C8341-6925-4855-BC5F-256CEF5B0AEE}" srcOrd="0" destOrd="0" presId="urn:microsoft.com/office/officeart/2005/8/layout/list1"/>
    <dgm:cxn modelId="{45B7BC25-081C-43E9-9F52-1B2D006EDBCF}" type="presParOf" srcId="{6A94EB9F-C652-4445-8260-2FDC27B01800}" destId="{DD0BD33E-0E4D-49D5-8929-510A6FF3784C}" srcOrd="1" destOrd="0" presId="urn:microsoft.com/office/officeart/2005/8/layout/list1"/>
    <dgm:cxn modelId="{9D3729FE-2942-45B7-A46F-47F70F0C04CF}" type="presParOf" srcId="{1B4B4CFF-0374-4622-B626-D94DBC7344DF}" destId="{115357FE-D7A7-4428-A660-1395242B868C}" srcOrd="1" destOrd="0" presId="urn:microsoft.com/office/officeart/2005/8/layout/list1"/>
    <dgm:cxn modelId="{7209E7B7-EAA3-41A2-AC8C-B4C4EB31D8A6}" type="presParOf" srcId="{1B4B4CFF-0374-4622-B626-D94DBC7344DF}" destId="{DA46D658-C31A-4A75-BA12-5C75D1335716}" srcOrd="2" destOrd="0" presId="urn:microsoft.com/office/officeart/2005/8/layout/list1"/>
    <dgm:cxn modelId="{A2BAB003-4E96-4EBC-B215-E5647B6C7B40}" type="presParOf" srcId="{1B4B4CFF-0374-4622-B626-D94DBC7344DF}" destId="{52B3EC55-647E-4D64-91AD-B404CC142345}" srcOrd="3" destOrd="0" presId="urn:microsoft.com/office/officeart/2005/8/layout/list1"/>
    <dgm:cxn modelId="{9BEEB9DE-9EC3-49EE-8BC0-AB5D2344092B}" type="presParOf" srcId="{1B4B4CFF-0374-4622-B626-D94DBC7344DF}" destId="{89141842-8078-4910-B0CF-57D40D88C8B2}" srcOrd="4" destOrd="0" presId="urn:microsoft.com/office/officeart/2005/8/layout/list1"/>
    <dgm:cxn modelId="{71A0D92C-90A5-4867-8CD5-49976D3F1ACA}" type="presParOf" srcId="{89141842-8078-4910-B0CF-57D40D88C8B2}" destId="{CC64FFDA-F889-4A04-8D77-4ECACB0E66F3}" srcOrd="0" destOrd="0" presId="urn:microsoft.com/office/officeart/2005/8/layout/list1"/>
    <dgm:cxn modelId="{65F091AE-AEA2-4360-B0B0-2D30954CECFF}" type="presParOf" srcId="{89141842-8078-4910-B0CF-57D40D88C8B2}" destId="{D5BA41A1-B422-4927-9C6A-23B0FE0D50AA}" srcOrd="1" destOrd="0" presId="urn:microsoft.com/office/officeart/2005/8/layout/list1"/>
    <dgm:cxn modelId="{034D8FD5-2F3B-4A71-A3DA-DD464E47F71F}" type="presParOf" srcId="{1B4B4CFF-0374-4622-B626-D94DBC7344DF}" destId="{3F417BB3-6C44-48BE-9708-51CC0EF0D28F}" srcOrd="5" destOrd="0" presId="urn:microsoft.com/office/officeart/2005/8/layout/list1"/>
    <dgm:cxn modelId="{9C0A728E-EFF8-4493-A1D0-E3105DA109F8}" type="presParOf" srcId="{1B4B4CFF-0374-4622-B626-D94DBC7344DF}" destId="{D8544221-A1E8-467D-AF24-B0255392366A}" srcOrd="6" destOrd="0" presId="urn:microsoft.com/office/officeart/2005/8/layout/list1"/>
    <dgm:cxn modelId="{D9B3A602-4DE0-4692-A859-B8FD0DA919F9}" type="presParOf" srcId="{1B4B4CFF-0374-4622-B626-D94DBC7344DF}" destId="{25D25C9C-4512-4768-BB18-B7DE967BFC10}" srcOrd="7" destOrd="0" presId="urn:microsoft.com/office/officeart/2005/8/layout/list1"/>
    <dgm:cxn modelId="{93F2DD62-5FC9-4696-AA3E-74F76EBE98AC}" type="presParOf" srcId="{1B4B4CFF-0374-4622-B626-D94DBC7344DF}" destId="{CCCFECB6-CADA-4D74-89F2-DC4D9EA96070}" srcOrd="8" destOrd="0" presId="urn:microsoft.com/office/officeart/2005/8/layout/list1"/>
    <dgm:cxn modelId="{E919E37B-D5DB-444E-8723-9D27E8DD76BC}" type="presParOf" srcId="{CCCFECB6-CADA-4D74-89F2-DC4D9EA96070}" destId="{BF198B4D-954A-4633-ABB5-065AFDD99231}" srcOrd="0" destOrd="0" presId="urn:microsoft.com/office/officeart/2005/8/layout/list1"/>
    <dgm:cxn modelId="{FF7138A3-F199-4803-B288-1AAB6755E740}" type="presParOf" srcId="{CCCFECB6-CADA-4D74-89F2-DC4D9EA96070}" destId="{0A69EE8B-0F9E-4C9F-ADD1-D795B34DC515}" srcOrd="1" destOrd="0" presId="urn:microsoft.com/office/officeart/2005/8/layout/list1"/>
    <dgm:cxn modelId="{95BFFE63-7A96-4BBE-B2DD-019E89B0DBCA}" type="presParOf" srcId="{1B4B4CFF-0374-4622-B626-D94DBC7344DF}" destId="{62D61E00-CDB7-4164-B4B4-A036D4E99A2F}" srcOrd="9" destOrd="0" presId="urn:microsoft.com/office/officeart/2005/8/layout/list1"/>
    <dgm:cxn modelId="{4C7E4158-BA18-4B92-A15E-E646801101DC}" type="presParOf" srcId="{1B4B4CFF-0374-4622-B626-D94DBC7344DF}" destId="{DC4ABC5C-11E4-43AD-9A2A-8A30E0333CD9}" srcOrd="10" destOrd="0" presId="urn:microsoft.com/office/officeart/2005/8/layout/list1"/>
    <dgm:cxn modelId="{B9EC234F-3E58-4D59-81A1-AD4954AF5B0F}" type="presParOf" srcId="{1B4B4CFF-0374-4622-B626-D94DBC7344DF}" destId="{35E2F18C-59B4-4675-8A08-040A3044AD77}" srcOrd="11" destOrd="0" presId="urn:microsoft.com/office/officeart/2005/8/layout/list1"/>
    <dgm:cxn modelId="{5C6AE433-AE2F-4E11-B51F-E7CA0DF50D06}" type="presParOf" srcId="{1B4B4CFF-0374-4622-B626-D94DBC7344DF}" destId="{88BA02DB-06D3-47E4-AD7E-6CB87B9A3A46}" srcOrd="12" destOrd="0" presId="urn:microsoft.com/office/officeart/2005/8/layout/list1"/>
    <dgm:cxn modelId="{7FFED707-D446-4B18-8DA4-604CA4988F15}" type="presParOf" srcId="{88BA02DB-06D3-47E4-AD7E-6CB87B9A3A46}" destId="{511FCF53-6E7C-4E92-A721-246AD7D2EE4B}" srcOrd="0" destOrd="0" presId="urn:microsoft.com/office/officeart/2005/8/layout/list1"/>
    <dgm:cxn modelId="{E9FCB1B9-52C1-43D8-84F6-3B4CD0D2D65E}" type="presParOf" srcId="{88BA02DB-06D3-47E4-AD7E-6CB87B9A3A46}" destId="{988D556C-72FA-4CBE-8911-81216E2C0DDE}" srcOrd="1" destOrd="0" presId="urn:microsoft.com/office/officeart/2005/8/layout/list1"/>
    <dgm:cxn modelId="{7C6A0E62-C7C5-4E0A-81DD-62FCE19A6362}" type="presParOf" srcId="{1B4B4CFF-0374-4622-B626-D94DBC7344DF}" destId="{EE6D8344-EE07-43F6-8197-10CD31F032C3}" srcOrd="13" destOrd="0" presId="urn:microsoft.com/office/officeart/2005/8/layout/list1"/>
    <dgm:cxn modelId="{DD28ACEB-D4CE-4356-967A-7D096AEFE41B}" type="presParOf" srcId="{1B4B4CFF-0374-4622-B626-D94DBC7344DF}" destId="{E1677C0A-A7CD-40ED-BAD9-464B7BCB94B3}" srcOrd="14" destOrd="0" presId="urn:microsoft.com/office/officeart/2005/8/layout/list1"/>
    <dgm:cxn modelId="{E08A3732-522A-402E-9AD0-815E03715E69}" type="presParOf" srcId="{1B4B4CFF-0374-4622-B626-D94DBC7344DF}" destId="{3CBC5216-075E-469E-A323-E52E6A722020}" srcOrd="15" destOrd="0" presId="urn:microsoft.com/office/officeart/2005/8/layout/list1"/>
    <dgm:cxn modelId="{24ED074F-16E0-4CAD-BE8A-B414863D66DC}" type="presParOf" srcId="{1B4B4CFF-0374-4622-B626-D94DBC7344DF}" destId="{CDD09E8B-7FF1-482F-95B7-D610D3860406}" srcOrd="16" destOrd="0" presId="urn:microsoft.com/office/officeart/2005/8/layout/list1"/>
    <dgm:cxn modelId="{97739A6A-E41C-4009-9DE8-A0A7CD519024}" type="presParOf" srcId="{CDD09E8B-7FF1-482F-95B7-D610D3860406}" destId="{481C272F-4DE5-4ACF-B53F-94E5322EC765}" srcOrd="0" destOrd="0" presId="urn:microsoft.com/office/officeart/2005/8/layout/list1"/>
    <dgm:cxn modelId="{5A4A98F7-5218-471D-AFD9-F6D985A4E1B6}" type="presParOf" srcId="{CDD09E8B-7FF1-482F-95B7-D610D3860406}" destId="{7942C5E3-F364-4045-94B1-6DAB7732593D}" srcOrd="1" destOrd="0" presId="urn:microsoft.com/office/officeart/2005/8/layout/list1"/>
    <dgm:cxn modelId="{E85F4C39-3825-4728-8E1C-72836FF2C566}" type="presParOf" srcId="{1B4B4CFF-0374-4622-B626-D94DBC7344DF}" destId="{447A7AE4-081A-45AD-87F7-505C881A9E17}" srcOrd="17" destOrd="0" presId="urn:microsoft.com/office/officeart/2005/8/layout/list1"/>
    <dgm:cxn modelId="{73C2AF0F-4DC0-4F09-8474-C04999E57A87}" type="presParOf" srcId="{1B4B4CFF-0374-4622-B626-D94DBC7344DF}" destId="{732BA99E-7234-4E66-92FD-0A52100705F0}" srcOrd="18" destOrd="0" presId="urn:microsoft.com/office/officeart/2005/8/layout/list1"/>
    <dgm:cxn modelId="{DBC3B686-2448-4309-AE0B-E575855D1CD3}" type="presParOf" srcId="{1B4B4CFF-0374-4622-B626-D94DBC7344DF}" destId="{724C5E00-D332-452C-AA38-2114714200A4}" srcOrd="19" destOrd="0" presId="urn:microsoft.com/office/officeart/2005/8/layout/list1"/>
    <dgm:cxn modelId="{00237C71-AF2D-4A38-A9CB-2F93419287C4}" type="presParOf" srcId="{1B4B4CFF-0374-4622-B626-D94DBC7344DF}" destId="{74C6F69E-A198-4160-B609-CF4FBC1CC78D}" srcOrd="20" destOrd="0" presId="urn:microsoft.com/office/officeart/2005/8/layout/list1"/>
    <dgm:cxn modelId="{F7FEAC46-71DB-4214-B5D5-63E8CDE6C1DF}" type="presParOf" srcId="{74C6F69E-A198-4160-B609-CF4FBC1CC78D}" destId="{ACDECC7D-7BED-4E6A-BFD7-359D400A995F}" srcOrd="0" destOrd="0" presId="urn:microsoft.com/office/officeart/2005/8/layout/list1"/>
    <dgm:cxn modelId="{F9E0A2BD-B392-4B45-A91B-78880D68B18B}" type="presParOf" srcId="{74C6F69E-A198-4160-B609-CF4FBC1CC78D}" destId="{20A9E7A4-CB87-4900-9A13-353A586ED04E}" srcOrd="1" destOrd="0" presId="urn:microsoft.com/office/officeart/2005/8/layout/list1"/>
    <dgm:cxn modelId="{971FB5A2-5828-4830-82A3-4513C0760762}" type="presParOf" srcId="{1B4B4CFF-0374-4622-B626-D94DBC7344DF}" destId="{EFE9B06F-70B3-4200-8504-07A87E64B2A7}" srcOrd="21" destOrd="0" presId="urn:microsoft.com/office/officeart/2005/8/layout/list1"/>
    <dgm:cxn modelId="{D5998BF3-805E-486E-83BA-5A0507CA202A}" type="presParOf" srcId="{1B4B4CFF-0374-4622-B626-D94DBC7344DF}" destId="{897C5F65-5264-42D0-B5A5-E2DE19C46CF4}" srcOrd="22" destOrd="0" presId="urn:microsoft.com/office/officeart/2005/8/layout/list1"/>
    <dgm:cxn modelId="{43D1FDFF-981D-4DE7-98B3-AABBFD12D408}" type="presParOf" srcId="{1B4B4CFF-0374-4622-B626-D94DBC7344DF}" destId="{FD629C56-CD11-4CFC-9505-C6321BFC9777}" srcOrd="23" destOrd="0" presId="urn:microsoft.com/office/officeart/2005/8/layout/list1"/>
    <dgm:cxn modelId="{8F1D47D0-ACAB-4D4E-87C9-B944427B5DF2}" type="presParOf" srcId="{1B4B4CFF-0374-4622-B626-D94DBC7344DF}" destId="{A042734D-1278-4504-A14D-56B9F41F8E18}" srcOrd="24" destOrd="0" presId="urn:microsoft.com/office/officeart/2005/8/layout/list1"/>
    <dgm:cxn modelId="{BD288D97-06B3-435F-923F-DCE2585220B6}" type="presParOf" srcId="{A042734D-1278-4504-A14D-56B9F41F8E18}" destId="{8BD98DA3-7587-44CC-A945-3F04F878F531}" srcOrd="0" destOrd="0" presId="urn:microsoft.com/office/officeart/2005/8/layout/list1"/>
    <dgm:cxn modelId="{9A625D67-020B-4E2C-B8EE-D48FCA1F263A}" type="presParOf" srcId="{A042734D-1278-4504-A14D-56B9F41F8E18}" destId="{52D4F5BB-F2D1-483C-AB64-3C0216D5C5AA}" srcOrd="1" destOrd="0" presId="urn:microsoft.com/office/officeart/2005/8/layout/list1"/>
    <dgm:cxn modelId="{1170D5EC-AFC8-497B-BC20-3142EE15006F}" type="presParOf" srcId="{1B4B4CFF-0374-4622-B626-D94DBC7344DF}" destId="{9B1E41CC-A94E-4920-A151-8D334597BB9B}" srcOrd="25" destOrd="0" presId="urn:microsoft.com/office/officeart/2005/8/layout/list1"/>
    <dgm:cxn modelId="{1767CF5B-B9E9-40DA-91E6-9EB6AC8AF183}" type="presParOf" srcId="{1B4B4CFF-0374-4622-B626-D94DBC7344DF}" destId="{BBD63C01-376E-4C08-8294-FC6626B7ADD1}" srcOrd="26" destOrd="0" presId="urn:microsoft.com/office/officeart/2005/8/layout/list1"/>
    <dgm:cxn modelId="{960B7E38-64B1-406D-90A4-053CC6EF829E}" type="presParOf" srcId="{1B4B4CFF-0374-4622-B626-D94DBC7344DF}" destId="{D1BBD4F2-349C-46CD-9B8A-BACCB6AB22CE}" srcOrd="27" destOrd="0" presId="urn:microsoft.com/office/officeart/2005/8/layout/list1"/>
    <dgm:cxn modelId="{E694BB46-91D6-4884-A135-817AB8ABA673}" type="presParOf" srcId="{1B4B4CFF-0374-4622-B626-D94DBC7344DF}" destId="{80633030-AB7D-4A5C-91C3-8C26F2E82F08}" srcOrd="28" destOrd="0" presId="urn:microsoft.com/office/officeart/2005/8/layout/list1"/>
    <dgm:cxn modelId="{FD41FBA6-42D1-44C6-BAD6-35D370F6A418}" type="presParOf" srcId="{80633030-AB7D-4A5C-91C3-8C26F2E82F08}" destId="{FBCBE08A-C54C-4E52-9C7C-9A4549D832D5}" srcOrd="0" destOrd="0" presId="urn:microsoft.com/office/officeart/2005/8/layout/list1"/>
    <dgm:cxn modelId="{7B04470B-EA6D-462E-ABCD-3775D1FE5749}" type="presParOf" srcId="{80633030-AB7D-4A5C-91C3-8C26F2E82F08}" destId="{32A8A988-F9D1-4AF5-AE38-7C768D82BF96}" srcOrd="1" destOrd="0" presId="urn:microsoft.com/office/officeart/2005/8/layout/list1"/>
    <dgm:cxn modelId="{AAF6D23A-D11C-478C-8904-DEA535EE7382}" type="presParOf" srcId="{1B4B4CFF-0374-4622-B626-D94DBC7344DF}" destId="{9B1FB121-5373-4010-B2B2-853EB2062D30}" srcOrd="29" destOrd="0" presId="urn:microsoft.com/office/officeart/2005/8/layout/list1"/>
    <dgm:cxn modelId="{971B34FE-1474-4802-A8DA-D6DD4C2CFC3F}" type="presParOf" srcId="{1B4B4CFF-0374-4622-B626-D94DBC7344DF}" destId="{16A0660D-4C60-4675-9CC3-07C5529896CE}" srcOrd="30" destOrd="0" presId="urn:microsoft.com/office/officeart/2005/8/layout/list1"/>
    <dgm:cxn modelId="{24F09593-EA14-46FE-8D52-528EE1952831}" type="presParOf" srcId="{1B4B4CFF-0374-4622-B626-D94DBC7344DF}" destId="{4AB42792-03C6-448C-B8F8-189EAE7CDD97}" srcOrd="31" destOrd="0" presId="urn:microsoft.com/office/officeart/2005/8/layout/list1"/>
    <dgm:cxn modelId="{0896C5B9-7255-44DF-9A41-D218FA42B0C3}" type="presParOf" srcId="{1B4B4CFF-0374-4622-B626-D94DBC7344DF}" destId="{15F50DF4-7CD4-4A7D-93A3-A71651240903}" srcOrd="32" destOrd="0" presId="urn:microsoft.com/office/officeart/2005/8/layout/list1"/>
    <dgm:cxn modelId="{3473D705-2A92-4ED0-B41E-3F33FC57F703}" type="presParOf" srcId="{15F50DF4-7CD4-4A7D-93A3-A71651240903}" destId="{30AF81B6-1A1B-4CFC-B612-6F5FE1F363EF}" srcOrd="0" destOrd="0" presId="urn:microsoft.com/office/officeart/2005/8/layout/list1"/>
    <dgm:cxn modelId="{3E2F5374-214A-43E7-B568-39C2E2DBDD9E}" type="presParOf" srcId="{15F50DF4-7CD4-4A7D-93A3-A71651240903}" destId="{8C4C94F9-1CF5-404A-97E6-8143A4103EAC}" srcOrd="1" destOrd="0" presId="urn:microsoft.com/office/officeart/2005/8/layout/list1"/>
    <dgm:cxn modelId="{B68C5F6C-8556-46C8-886F-36BCBEAB0AA5}" type="presParOf" srcId="{1B4B4CFF-0374-4622-B626-D94DBC7344DF}" destId="{DA73F958-7B4D-41CB-8B3C-23DA3A15F8DA}" srcOrd="33" destOrd="0" presId="urn:microsoft.com/office/officeart/2005/8/layout/list1"/>
    <dgm:cxn modelId="{C40817ED-9754-4E68-A5FB-919863E8BACF}" type="presParOf" srcId="{1B4B4CFF-0374-4622-B626-D94DBC7344DF}" destId="{B51F8023-7AC3-4566-B844-C1C6D10EF06D}" srcOrd="3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46D658-C31A-4A75-BA12-5C75D1335716}">
      <dsp:nvSpPr>
        <dsp:cNvPr id="0" name=""/>
        <dsp:cNvSpPr/>
      </dsp:nvSpPr>
      <dsp:spPr>
        <a:xfrm>
          <a:off x="0" y="0"/>
          <a:ext cx="9909319" cy="38951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0BD33E-0E4D-49D5-8929-510A6FF3784C}">
      <dsp:nvSpPr>
        <dsp:cNvPr id="0" name=""/>
        <dsp:cNvSpPr/>
      </dsp:nvSpPr>
      <dsp:spPr>
        <a:xfrm>
          <a:off x="136550" y="102255"/>
          <a:ext cx="6936523" cy="265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2184" tIns="0" rIns="262184" bIns="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900" kern="1200">
              <a:latin typeface="Avenir Next LT Pro"/>
              <a:ea typeface="+mn-ea"/>
              <a:cs typeface="+mn-cs"/>
            </a:rPr>
            <a:t>Paso 1: </a:t>
          </a:r>
          <a:r>
            <a:rPr lang="en-US" sz="900" kern="1200">
              <a:latin typeface="Avenir Next LT Pro"/>
              <a:ea typeface="+mn-ea"/>
              <a:cs typeface="+mn-cs"/>
            </a:rPr>
            <a:t>Preparación y exploración inicial</a:t>
          </a:r>
          <a:r>
            <a:rPr lang="es-CO" sz="900" kern="1200">
              <a:latin typeface="Avenir Next LT Pro"/>
              <a:ea typeface="+mn-ea"/>
              <a:cs typeface="+mn-cs"/>
            </a:rPr>
            <a:t> – 1 mes</a:t>
          </a:r>
          <a:endParaRPr lang="en-US" sz="900" kern="1200" dirty="0">
            <a:latin typeface="Avenir Next LT Pro"/>
            <a:ea typeface="+mn-ea"/>
            <a:cs typeface="+mn-cs"/>
          </a:endParaRPr>
        </a:p>
      </dsp:txBody>
      <dsp:txXfrm>
        <a:off x="149519" y="115224"/>
        <a:ext cx="6910585" cy="239742"/>
      </dsp:txXfrm>
    </dsp:sp>
    <dsp:sp modelId="{D8544221-A1E8-467D-AF24-B0255392366A}">
      <dsp:nvSpPr>
        <dsp:cNvPr id="0" name=""/>
        <dsp:cNvSpPr/>
      </dsp:nvSpPr>
      <dsp:spPr>
        <a:xfrm>
          <a:off x="0" y="598078"/>
          <a:ext cx="9909319" cy="35193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BA41A1-B422-4927-9C6A-23B0FE0D50AA}">
      <dsp:nvSpPr>
        <dsp:cNvPr id="0" name=""/>
        <dsp:cNvSpPr/>
      </dsp:nvSpPr>
      <dsp:spPr>
        <a:xfrm>
          <a:off x="158137" y="656441"/>
          <a:ext cx="6936523" cy="265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2184" tIns="0" rIns="262184" bIns="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900" kern="1200" dirty="0">
              <a:latin typeface="Avenir Next LT Pro"/>
              <a:ea typeface="+mn-ea"/>
              <a:cs typeface="+mn-cs"/>
            </a:rPr>
            <a:t>Paso 2: </a:t>
          </a:r>
          <a:r>
            <a:rPr lang="en-US" sz="900" kern="1200" dirty="0" err="1">
              <a:latin typeface="Avenir Next LT Pro"/>
              <a:ea typeface="+mn-ea"/>
              <a:cs typeface="+mn-cs"/>
            </a:rPr>
            <a:t>Construcción</a:t>
          </a:r>
          <a:r>
            <a:rPr lang="en-US" sz="900" kern="1200" dirty="0">
              <a:latin typeface="Avenir Next LT Pro"/>
              <a:ea typeface="+mn-ea"/>
              <a:cs typeface="+mn-cs"/>
            </a:rPr>
            <a:t> </a:t>
          </a:r>
          <a:r>
            <a:rPr lang="en-US" sz="900" kern="1200" dirty="0" err="1">
              <a:latin typeface="Avenir Next LT Pro"/>
              <a:ea typeface="+mn-ea"/>
              <a:cs typeface="+mn-cs"/>
            </a:rPr>
            <a:t>grafo</a:t>
          </a:r>
          <a:r>
            <a:rPr lang="en-US" sz="900" kern="1200" dirty="0">
              <a:latin typeface="Avenir Next LT Pro"/>
              <a:ea typeface="+mn-ea"/>
              <a:cs typeface="+mn-cs"/>
            </a:rPr>
            <a:t> de </a:t>
          </a:r>
          <a:r>
            <a:rPr lang="en-US" sz="900" kern="1200" dirty="0" err="1">
              <a:latin typeface="Avenir Next LT Pro"/>
              <a:ea typeface="+mn-ea"/>
              <a:cs typeface="+mn-cs"/>
            </a:rPr>
            <a:t>conocimientos</a:t>
          </a:r>
          <a:r>
            <a:rPr lang="es-CO" sz="900" kern="1200" dirty="0">
              <a:latin typeface="Avenir Next LT Pro"/>
              <a:ea typeface="+mn-ea"/>
              <a:cs typeface="+mn-cs"/>
            </a:rPr>
            <a:t>– 1 mes</a:t>
          </a:r>
          <a:endParaRPr lang="en-US" sz="900" kern="1200" dirty="0">
            <a:latin typeface="Avenir Next LT Pro"/>
            <a:ea typeface="+mn-ea"/>
            <a:cs typeface="+mn-cs"/>
          </a:endParaRPr>
        </a:p>
      </dsp:txBody>
      <dsp:txXfrm>
        <a:off x="171106" y="669410"/>
        <a:ext cx="6910585" cy="239742"/>
      </dsp:txXfrm>
    </dsp:sp>
    <dsp:sp modelId="{DC4ABC5C-11E4-43AD-9A2A-8A30E0333CD9}">
      <dsp:nvSpPr>
        <dsp:cNvPr id="0" name=""/>
        <dsp:cNvSpPr/>
      </dsp:nvSpPr>
      <dsp:spPr>
        <a:xfrm>
          <a:off x="0" y="1133412"/>
          <a:ext cx="9909319" cy="38128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69EE8B-0F9E-4C9F-ADD1-D795B34DC515}">
      <dsp:nvSpPr>
        <dsp:cNvPr id="0" name=""/>
        <dsp:cNvSpPr/>
      </dsp:nvSpPr>
      <dsp:spPr>
        <a:xfrm>
          <a:off x="137630" y="1189686"/>
          <a:ext cx="6936523" cy="265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2184" tIns="0" rIns="262184" bIns="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900" kern="1200" dirty="0">
              <a:latin typeface="Avenir Next LT Pro"/>
              <a:ea typeface="+mn-ea"/>
              <a:cs typeface="+mn-cs"/>
            </a:rPr>
            <a:t>Paso 3: </a:t>
          </a:r>
          <a:r>
            <a:rPr lang="es-ES" sz="900" kern="1200" dirty="0">
              <a:latin typeface="Avenir Next LT Pro"/>
              <a:ea typeface="+mn-ea"/>
              <a:cs typeface="+mn-cs"/>
            </a:rPr>
            <a:t>Generación de </a:t>
          </a:r>
          <a:r>
            <a:rPr lang="es-ES" sz="900" kern="1200" dirty="0" err="1">
              <a:latin typeface="Avenir Next LT Pro"/>
              <a:ea typeface="+mn-ea"/>
              <a:cs typeface="+mn-cs"/>
            </a:rPr>
            <a:t>embeddings</a:t>
          </a:r>
          <a:r>
            <a:rPr lang="es-ES" sz="900" kern="1200" dirty="0">
              <a:latin typeface="Avenir Next LT Pro"/>
              <a:ea typeface="+mn-ea"/>
              <a:cs typeface="+mn-cs"/>
            </a:rPr>
            <a:t> y vector </a:t>
          </a:r>
          <a:r>
            <a:rPr lang="es-ES" sz="900" kern="1200" dirty="0" err="1">
              <a:latin typeface="Avenir Next LT Pro"/>
              <a:ea typeface="+mn-ea"/>
              <a:cs typeface="+mn-cs"/>
            </a:rPr>
            <a:t>index</a:t>
          </a:r>
          <a:r>
            <a:rPr lang="es-CO" sz="900" kern="1200" dirty="0">
              <a:latin typeface="Avenir Next LT Pro"/>
              <a:ea typeface="+mn-ea"/>
              <a:cs typeface="+mn-cs"/>
            </a:rPr>
            <a:t> – 1 mes</a:t>
          </a:r>
          <a:endParaRPr lang="en-US" sz="900" kern="1200" dirty="0">
            <a:latin typeface="Avenir Next LT Pro"/>
            <a:ea typeface="+mn-ea"/>
            <a:cs typeface="+mn-cs"/>
          </a:endParaRPr>
        </a:p>
      </dsp:txBody>
      <dsp:txXfrm>
        <a:off x="150599" y="1202655"/>
        <a:ext cx="6910585" cy="239742"/>
      </dsp:txXfrm>
    </dsp:sp>
    <dsp:sp modelId="{E1677C0A-A7CD-40ED-BAD9-464B7BCB94B3}">
      <dsp:nvSpPr>
        <dsp:cNvPr id="0" name=""/>
        <dsp:cNvSpPr/>
      </dsp:nvSpPr>
      <dsp:spPr>
        <a:xfrm>
          <a:off x="0" y="1611447"/>
          <a:ext cx="9909319" cy="35833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8D556C-72FA-4CBE-8911-81216E2C0DDE}">
      <dsp:nvSpPr>
        <dsp:cNvPr id="0" name=""/>
        <dsp:cNvSpPr/>
      </dsp:nvSpPr>
      <dsp:spPr>
        <a:xfrm>
          <a:off x="162438" y="1638068"/>
          <a:ext cx="6936523" cy="265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2184" tIns="0" rIns="262184" bIns="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900" kern="1200">
              <a:latin typeface="Avenir Next LT Pro"/>
              <a:ea typeface="+mn-ea"/>
              <a:cs typeface="+mn-cs"/>
            </a:rPr>
            <a:t>Paso 4: </a:t>
          </a:r>
          <a:r>
            <a:rPr lang="es-ES" sz="900" kern="1200">
              <a:latin typeface="Avenir Next LT Pro"/>
            </a:rPr>
            <a:t>Implementación de GraphRAG (módulos de búsqueda + traversal)</a:t>
          </a:r>
          <a:r>
            <a:rPr lang="es-CO" sz="900" kern="1200">
              <a:latin typeface="Avenir Next LT Pro"/>
              <a:ea typeface="+mn-ea"/>
              <a:cs typeface="+mn-cs"/>
            </a:rPr>
            <a:t>– 1 mes</a:t>
          </a:r>
          <a:endParaRPr lang="en-US" sz="900" kern="1200" dirty="0">
            <a:latin typeface="Avenir Next LT Pro"/>
            <a:ea typeface="+mn-ea"/>
            <a:cs typeface="+mn-cs"/>
          </a:endParaRPr>
        </a:p>
      </dsp:txBody>
      <dsp:txXfrm>
        <a:off x="175407" y="1651037"/>
        <a:ext cx="6910585" cy="239742"/>
      </dsp:txXfrm>
    </dsp:sp>
    <dsp:sp modelId="{732BA99E-7234-4E66-92FD-0A52100705F0}">
      <dsp:nvSpPr>
        <dsp:cNvPr id="0" name=""/>
        <dsp:cNvSpPr/>
      </dsp:nvSpPr>
      <dsp:spPr>
        <a:xfrm>
          <a:off x="0" y="2110495"/>
          <a:ext cx="9909319" cy="308903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42C5E3-F364-4045-94B1-6DAB7732593D}">
      <dsp:nvSpPr>
        <dsp:cNvPr id="0" name=""/>
        <dsp:cNvSpPr/>
      </dsp:nvSpPr>
      <dsp:spPr>
        <a:xfrm>
          <a:off x="102046" y="2128258"/>
          <a:ext cx="6936523" cy="265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2184" tIns="0" rIns="262184" bIns="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>
              <a:latin typeface="Avenir Next LT Pro"/>
              <a:ea typeface="+mn-ea"/>
              <a:cs typeface="+mn-cs"/>
            </a:rPr>
            <a:t>Paso 5: Implementación de Text a </a:t>
          </a:r>
          <a:r>
            <a:rPr lang="es-ES" sz="900" kern="1200" dirty="0" err="1">
              <a:latin typeface="Avenir Next LT Pro"/>
              <a:ea typeface="+mn-ea"/>
              <a:cs typeface="+mn-cs"/>
            </a:rPr>
            <a:t>Cypher</a:t>
          </a:r>
          <a:r>
            <a:rPr lang="es-ES" sz="900" kern="1200" dirty="0">
              <a:latin typeface="Avenir Next LT Pro"/>
              <a:ea typeface="+mn-ea"/>
              <a:cs typeface="+mn-cs"/>
            </a:rPr>
            <a:t> y agente en </a:t>
          </a:r>
          <a:r>
            <a:rPr lang="es-ES" sz="900" kern="1200" dirty="0" err="1">
              <a:latin typeface="Avenir Next LT Pro"/>
              <a:ea typeface="+mn-ea"/>
              <a:cs typeface="+mn-cs"/>
            </a:rPr>
            <a:t>LangChain</a:t>
          </a:r>
          <a:r>
            <a:rPr lang="es-ES" sz="900" kern="1200" dirty="0">
              <a:latin typeface="Avenir Next LT Pro"/>
              <a:ea typeface="+mn-ea"/>
              <a:cs typeface="+mn-cs"/>
            </a:rPr>
            <a:t> – 1 mes</a:t>
          </a:r>
          <a:endParaRPr lang="en-US" sz="900" kern="1200" dirty="0">
            <a:latin typeface="Avenir Next LT Pro"/>
            <a:ea typeface="+mn-ea"/>
            <a:cs typeface="+mn-cs"/>
          </a:endParaRPr>
        </a:p>
      </dsp:txBody>
      <dsp:txXfrm>
        <a:off x="115015" y="2141227"/>
        <a:ext cx="6910585" cy="239742"/>
      </dsp:txXfrm>
    </dsp:sp>
    <dsp:sp modelId="{897C5F65-5264-42D0-B5A5-E2DE19C46CF4}">
      <dsp:nvSpPr>
        <dsp:cNvPr id="0" name=""/>
        <dsp:cNvSpPr/>
      </dsp:nvSpPr>
      <dsp:spPr>
        <a:xfrm>
          <a:off x="0" y="2597244"/>
          <a:ext cx="9909319" cy="30257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A9E7A4-CB87-4900-9A13-353A586ED04E}">
      <dsp:nvSpPr>
        <dsp:cNvPr id="0" name=""/>
        <dsp:cNvSpPr/>
      </dsp:nvSpPr>
      <dsp:spPr>
        <a:xfrm>
          <a:off x="115904" y="2611915"/>
          <a:ext cx="6936523" cy="265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2184" tIns="0" rIns="262184" bIns="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latin typeface="Avenir Next LT Pro"/>
              <a:ea typeface="+mn-ea"/>
              <a:cs typeface="+mn-cs"/>
            </a:rPr>
            <a:t>Paso 6: </a:t>
          </a:r>
          <a:r>
            <a:rPr lang="en-US" sz="900" kern="1200" dirty="0" err="1">
              <a:latin typeface="Avenir Next LT Pro"/>
              <a:ea typeface="+mn-ea"/>
              <a:cs typeface="+mn-cs"/>
            </a:rPr>
            <a:t>Implementación</a:t>
          </a:r>
          <a:r>
            <a:rPr lang="en-US" sz="900" kern="1200" dirty="0">
              <a:latin typeface="Avenir Next LT Pro"/>
              <a:ea typeface="+mn-ea"/>
              <a:cs typeface="+mn-cs"/>
            </a:rPr>
            <a:t> de LLM-as-a-Judge – 1 </a:t>
          </a:r>
          <a:r>
            <a:rPr lang="en-US" sz="900" kern="1200" dirty="0" err="1">
              <a:latin typeface="Avenir Next LT Pro"/>
              <a:ea typeface="+mn-ea"/>
              <a:cs typeface="+mn-cs"/>
            </a:rPr>
            <a:t>mes</a:t>
          </a:r>
          <a:endParaRPr lang="en-US" sz="900" kern="1200" dirty="0">
            <a:latin typeface="Avenir Next LT Pro"/>
            <a:ea typeface="+mn-ea"/>
            <a:cs typeface="+mn-cs"/>
          </a:endParaRPr>
        </a:p>
      </dsp:txBody>
      <dsp:txXfrm>
        <a:off x="128873" y="2624884"/>
        <a:ext cx="6910585" cy="239742"/>
      </dsp:txXfrm>
    </dsp:sp>
    <dsp:sp modelId="{BBD63C01-376E-4C08-8294-FC6626B7ADD1}">
      <dsp:nvSpPr>
        <dsp:cNvPr id="0" name=""/>
        <dsp:cNvSpPr/>
      </dsp:nvSpPr>
      <dsp:spPr>
        <a:xfrm>
          <a:off x="0" y="3135609"/>
          <a:ext cx="9909319" cy="295393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D4F5BB-F2D1-483C-AB64-3C0216D5C5AA}">
      <dsp:nvSpPr>
        <dsp:cNvPr id="0" name=""/>
        <dsp:cNvSpPr/>
      </dsp:nvSpPr>
      <dsp:spPr>
        <a:xfrm>
          <a:off x="133156" y="3158044"/>
          <a:ext cx="6936523" cy="265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2184" tIns="0" rIns="262184" bIns="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latin typeface="Avenir Next LT Pro"/>
              <a:ea typeface="+mn-ea"/>
              <a:cs typeface="+mn-cs"/>
            </a:rPr>
            <a:t>Paso 7: Backend y API – 1 </a:t>
          </a:r>
          <a:r>
            <a:rPr lang="en-US" sz="900" kern="1200" dirty="0" err="1">
              <a:latin typeface="Avenir Next LT Pro"/>
              <a:ea typeface="+mn-ea"/>
              <a:cs typeface="+mn-cs"/>
            </a:rPr>
            <a:t>mes</a:t>
          </a:r>
          <a:endParaRPr lang="en-US" sz="900" kern="1200" dirty="0">
            <a:latin typeface="Avenir Next LT Pro"/>
            <a:ea typeface="+mn-ea"/>
            <a:cs typeface="+mn-cs"/>
          </a:endParaRPr>
        </a:p>
      </dsp:txBody>
      <dsp:txXfrm>
        <a:off x="146125" y="3171013"/>
        <a:ext cx="6910585" cy="239742"/>
      </dsp:txXfrm>
    </dsp:sp>
    <dsp:sp modelId="{16A0660D-4C60-4675-9CC3-07C5529896CE}">
      <dsp:nvSpPr>
        <dsp:cNvPr id="0" name=""/>
        <dsp:cNvSpPr/>
      </dsp:nvSpPr>
      <dsp:spPr>
        <a:xfrm>
          <a:off x="0" y="3643498"/>
          <a:ext cx="9909319" cy="341243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A8A988-F9D1-4AF5-AE38-7C768D82BF96}">
      <dsp:nvSpPr>
        <dsp:cNvPr id="0" name=""/>
        <dsp:cNvSpPr/>
      </dsp:nvSpPr>
      <dsp:spPr>
        <a:xfrm>
          <a:off x="115904" y="3689222"/>
          <a:ext cx="6936523" cy="265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2184" tIns="0" rIns="262184" bIns="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latin typeface="Avenir Next LT Pro"/>
              <a:ea typeface="+mn-ea"/>
              <a:cs typeface="+mn-cs"/>
            </a:rPr>
            <a:t>Paso 8: Front-End Web y </a:t>
          </a:r>
          <a:r>
            <a:rPr lang="en-US" sz="900" kern="1200" dirty="0" err="1">
              <a:latin typeface="Avenir Next LT Pro"/>
              <a:ea typeface="+mn-ea"/>
              <a:cs typeface="+mn-cs"/>
            </a:rPr>
            <a:t>despliegue</a:t>
          </a:r>
          <a:r>
            <a:rPr lang="en-US" sz="900" kern="1200" dirty="0">
              <a:latin typeface="Avenir Next LT Pro"/>
              <a:ea typeface="+mn-ea"/>
              <a:cs typeface="+mn-cs"/>
            </a:rPr>
            <a:t> </a:t>
          </a:r>
          <a:r>
            <a:rPr lang="en-US" sz="900" kern="1200" dirty="0" err="1">
              <a:latin typeface="Avenir Next LT Pro"/>
              <a:ea typeface="+mn-ea"/>
              <a:cs typeface="+mn-cs"/>
            </a:rPr>
            <a:t>en</a:t>
          </a:r>
          <a:r>
            <a:rPr lang="en-US" sz="900" kern="1200" dirty="0">
              <a:latin typeface="Avenir Next LT Pro"/>
              <a:ea typeface="+mn-ea"/>
              <a:cs typeface="+mn-cs"/>
            </a:rPr>
            <a:t> Azure – 1 </a:t>
          </a:r>
          <a:r>
            <a:rPr lang="en-US" sz="900" kern="1200" dirty="0" err="1">
              <a:latin typeface="Avenir Next LT Pro"/>
              <a:ea typeface="+mn-ea"/>
              <a:cs typeface="+mn-cs"/>
            </a:rPr>
            <a:t>mes</a:t>
          </a:r>
          <a:endParaRPr lang="en-US" sz="900" kern="1200" dirty="0">
            <a:latin typeface="Avenir Next LT Pro"/>
            <a:ea typeface="+mn-ea"/>
            <a:cs typeface="+mn-cs"/>
          </a:endParaRPr>
        </a:p>
      </dsp:txBody>
      <dsp:txXfrm>
        <a:off x="128873" y="3702191"/>
        <a:ext cx="6910585" cy="239742"/>
      </dsp:txXfrm>
    </dsp:sp>
    <dsp:sp modelId="{B51F8023-7AC3-4566-B844-C1C6D10EF06D}">
      <dsp:nvSpPr>
        <dsp:cNvPr id="0" name=""/>
        <dsp:cNvSpPr/>
      </dsp:nvSpPr>
      <dsp:spPr>
        <a:xfrm>
          <a:off x="0" y="4173944"/>
          <a:ext cx="9909319" cy="35822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4C94F9-1CF5-404A-97E6-8143A4103EAC}">
      <dsp:nvSpPr>
        <dsp:cNvPr id="0" name=""/>
        <dsp:cNvSpPr/>
      </dsp:nvSpPr>
      <dsp:spPr>
        <a:xfrm>
          <a:off x="98647" y="4225708"/>
          <a:ext cx="6936523" cy="265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2184" tIns="0" rIns="262184" bIns="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>
              <a:latin typeface="Avenir Next LT Pro"/>
              <a:ea typeface="+mn-ea"/>
              <a:cs typeface="+mn-cs"/>
            </a:rPr>
            <a:t>Paso 9: Redacción, análisis final y entrega – 2 meses</a:t>
          </a:r>
          <a:endParaRPr lang="en-US" sz="900" kern="1200" dirty="0">
            <a:latin typeface="Avenir Next LT Pro"/>
            <a:ea typeface="+mn-ea"/>
            <a:cs typeface="+mn-cs"/>
          </a:endParaRPr>
        </a:p>
      </dsp:txBody>
      <dsp:txXfrm>
        <a:off x="111616" y="4238677"/>
        <a:ext cx="6910585" cy="2397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A58399-82A5-4F04-8671-5E74070C5E00}" type="datetimeFigureOut">
              <a:rPr lang="es-CO" smtClean="0"/>
              <a:t>4/12/2025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48860C-7A71-4B72-8FEA-842AAAFCC02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802660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391467" y="4348064"/>
            <a:ext cx="5411758" cy="1334278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391468" y="5682342"/>
            <a:ext cx="5411758" cy="522092"/>
          </a:xfrm>
        </p:spPr>
        <p:txBody>
          <a:bodyPr>
            <a:normAutofit/>
          </a:bodyPr>
          <a:lstStyle>
            <a:lvl1pPr marL="0" indent="0" algn="l">
              <a:buNone/>
              <a:defRPr sz="1800" i="1" u="none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Haga clic para editar el estilo de subtítulo del patrón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954785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79961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87898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363837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952950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2376132"/>
            <a:ext cx="5181600" cy="4108646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2376132"/>
            <a:ext cx="5181600" cy="4108646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93933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812989"/>
            <a:ext cx="10515600" cy="126725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2129027"/>
            <a:ext cx="5157787" cy="78766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952939"/>
            <a:ext cx="5157787" cy="3522506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2129027"/>
            <a:ext cx="5183188" cy="80866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952939"/>
            <a:ext cx="5183188" cy="3522506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42784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29399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0FCD54-9834-4BE8-9B5B-EEF02B5391B3}" type="datetimeFigureOut">
              <a:rPr lang="es-CO" smtClean="0"/>
              <a:t>4/12/2025</a:t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1EAACC5-580A-406C-9362-EA1B95EDA8C1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44474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179897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374630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730380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765188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38538" y="365125"/>
            <a:ext cx="7060941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819384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0077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111031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2570813"/>
            <a:ext cx="10515600" cy="38287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863979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C00000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C00000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C00000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C0000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C0000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48550/arXiv.2404.16130" TargetMode="External"/><Relationship Id="rId3" Type="http://schemas.openxmlformats.org/officeDocument/2006/relationships/hyperlink" Target="https://doi.org/10.1016/j.scico.2024.103079" TargetMode="External"/><Relationship Id="rId7" Type="http://schemas.openxmlformats.org/officeDocument/2006/relationships/hyperlink" Target="https://doi.org/10.3390/electronics14112102" TargetMode="External"/><Relationship Id="rId2" Type="http://schemas.openxmlformats.org/officeDocument/2006/relationships/hyperlink" Target="https://doi.org/10.3390/s25113352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3390/app15116315" TargetMode="External"/><Relationship Id="rId5" Type="http://schemas.openxmlformats.org/officeDocument/2006/relationships/hyperlink" Target="https://doi.org/10.1038/s41598-025-02643-2" TargetMode="External"/><Relationship Id="rId4" Type="http://schemas.openxmlformats.org/officeDocument/2006/relationships/hyperlink" Target="https://www.google.com/search?q=https://doi.org/10.13745/j.esf.sf.2025.4.77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Construcción de conocimiento sobre </a:t>
            </a:r>
            <a:r>
              <a:rPr lang="es-ES" dirty="0" err="1"/>
              <a:t>Hugging</a:t>
            </a:r>
            <a:r>
              <a:rPr lang="es-ES" dirty="0"/>
              <a:t> </a:t>
            </a:r>
            <a:r>
              <a:rPr lang="es-ES" dirty="0" err="1"/>
              <a:t>Face</a:t>
            </a:r>
            <a:r>
              <a:rPr lang="es-ES" dirty="0"/>
              <a:t> usando </a:t>
            </a:r>
            <a:r>
              <a:rPr lang="es-ES" dirty="0" err="1"/>
              <a:t>GraphRAG</a:t>
            </a:r>
            <a:endParaRPr lang="es-CO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452559" y="5788325"/>
            <a:ext cx="4617423" cy="823204"/>
          </a:xfrm>
        </p:spPr>
        <p:txBody>
          <a:bodyPr>
            <a:normAutofit fontScale="77500" lnSpcReduction="20000"/>
          </a:bodyPr>
          <a:lstStyle/>
          <a:p>
            <a:r>
              <a:rPr lang="es-ES" dirty="0"/>
              <a:t>Estudiante: Juan Esteban Gamba Aguilera</a:t>
            </a:r>
          </a:p>
          <a:p>
            <a:r>
              <a:rPr lang="es-ES" dirty="0"/>
              <a:t>Maestría en Ciencia de datos</a:t>
            </a:r>
          </a:p>
          <a:p>
            <a:r>
              <a:rPr lang="es-ES" dirty="0"/>
              <a:t>Director: Juan Carlos Correa </a:t>
            </a:r>
            <a:r>
              <a:rPr lang="es-ES" dirty="0" err="1"/>
              <a:t>Nu</a:t>
            </a:r>
            <a:r>
              <a:rPr lang="en-US" dirty="0" err="1"/>
              <a:t>ñez</a:t>
            </a:r>
            <a:endParaRPr lang="es-ES" dirty="0"/>
          </a:p>
          <a:p>
            <a:endParaRPr lang="es-ES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286470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AC660-F74D-41D7-CD25-0630F75CF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32BF06-CBDA-769F-A247-110D8EA14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5913"/>
            <a:ext cx="10515600" cy="666729"/>
          </a:xfrm>
        </p:spPr>
        <p:txBody>
          <a:bodyPr>
            <a:normAutofit fontScale="90000"/>
          </a:bodyPr>
          <a:lstStyle/>
          <a:p>
            <a:r>
              <a:rPr lang="es-CO" dirty="0"/>
              <a:t>Descripción de la problemática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11E0440-CB38-84F6-B942-9B0C649971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132" y="1328610"/>
            <a:ext cx="6226834" cy="38287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1600" b="1" dirty="0"/>
              <a:t>Primero que todo, ¿Qué es </a:t>
            </a:r>
            <a:r>
              <a:rPr lang="es-ES" sz="1600" b="1" dirty="0" err="1"/>
              <a:t>Hugging</a:t>
            </a:r>
            <a:r>
              <a:rPr lang="es-ES" sz="1600" b="1" dirty="0"/>
              <a:t> </a:t>
            </a:r>
            <a:r>
              <a:rPr lang="es-ES" sz="1600" b="1" dirty="0" err="1"/>
              <a:t>Face</a:t>
            </a:r>
            <a:r>
              <a:rPr lang="es-ES" sz="1600" b="1" dirty="0"/>
              <a:t>?</a:t>
            </a:r>
            <a:endParaRPr lang="es-ES" sz="1400" dirty="0"/>
          </a:p>
          <a:p>
            <a:pPr marL="0" indent="0">
              <a:buNone/>
            </a:pPr>
            <a:endParaRPr lang="es-ES" sz="1400" dirty="0"/>
          </a:p>
          <a:p>
            <a:r>
              <a:rPr lang="es-ES_tradnl" sz="1400" dirty="0"/>
              <a:t>La plataforma </a:t>
            </a:r>
            <a:r>
              <a:rPr lang="es-ES_tradnl" sz="1400" dirty="0" err="1"/>
              <a:t>Hugging</a:t>
            </a:r>
            <a:r>
              <a:rPr lang="es-ES_tradnl" sz="1400" dirty="0"/>
              <a:t> </a:t>
            </a:r>
            <a:r>
              <a:rPr lang="es-ES_tradnl" sz="1400" dirty="0" err="1"/>
              <a:t>Face</a:t>
            </a:r>
            <a:r>
              <a:rPr lang="es-ES_tradnl" sz="1400" dirty="0"/>
              <a:t> (HF) se ha consolidado como un centro crucial para el desarrollo y la colaboración en proyectos de Machine </a:t>
            </a:r>
            <a:r>
              <a:rPr lang="es-ES_tradnl" sz="1400" dirty="0" err="1"/>
              <a:t>Learning</a:t>
            </a:r>
            <a:r>
              <a:rPr lang="es-ES_tradnl" sz="1400" dirty="0"/>
              <a:t>, facilitando el intercambio de modelos </a:t>
            </a:r>
            <a:r>
              <a:rPr lang="es-ES_tradnl" sz="1400" dirty="0" err="1"/>
              <a:t>preentrenados</a:t>
            </a:r>
            <a:r>
              <a:rPr lang="es-ES_tradnl" sz="1400" dirty="0"/>
              <a:t>, conjuntos de datos y espacios (</a:t>
            </a:r>
            <a:r>
              <a:rPr lang="es-ES_tradnl" sz="1400" dirty="0" err="1"/>
              <a:t>Ait</a:t>
            </a:r>
            <a:r>
              <a:rPr lang="es-ES_tradnl" sz="1400" dirty="0"/>
              <a:t> et al 2024). </a:t>
            </a:r>
            <a:endParaRPr lang="es-CO" sz="1400" dirty="0"/>
          </a:p>
        </p:txBody>
      </p:sp>
      <p:pic>
        <p:nvPicPr>
          <p:cNvPr id="1028" name="Picture 4" descr="Democratizing AI: The Hugging Face Ethos of Accessible ML">
            <a:extLst>
              <a:ext uri="{FF2B5EF4-FFF2-40B4-BE49-F238E27FC236}">
                <a16:creationId xmlns:a16="http://schemas.microsoft.com/office/drawing/2014/main" id="{D442735A-5F3D-352D-7D78-53DA3CF37A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8145" y="4155322"/>
            <a:ext cx="1918808" cy="1279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5B0A04-39BD-242E-0A53-5C76EF2C6D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3939" y="1716655"/>
            <a:ext cx="4983929" cy="40716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42372CE-928A-1401-D761-98C176A0FF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35" y="3648373"/>
            <a:ext cx="5449703" cy="506949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8A06C458-62F4-5398-A818-4D10205B3FE2}"/>
              </a:ext>
            </a:extLst>
          </p:cNvPr>
          <p:cNvSpPr/>
          <p:nvPr/>
        </p:nvSpPr>
        <p:spPr>
          <a:xfrm>
            <a:off x="6461185" y="3648373"/>
            <a:ext cx="379562" cy="81951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6CFDF240-3783-5CC2-C92E-5A41F05C5DF2}"/>
              </a:ext>
            </a:extLst>
          </p:cNvPr>
          <p:cNvSpPr/>
          <p:nvPr/>
        </p:nvSpPr>
        <p:spPr>
          <a:xfrm>
            <a:off x="6461185" y="3180391"/>
            <a:ext cx="379562" cy="81951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726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5E52D-8882-0C9D-B5C9-212881B79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A50541-1706-514B-ED1D-CDCF546C5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5913"/>
            <a:ext cx="10515600" cy="666729"/>
          </a:xfrm>
        </p:spPr>
        <p:txBody>
          <a:bodyPr>
            <a:normAutofit fontScale="90000"/>
          </a:bodyPr>
          <a:lstStyle/>
          <a:p>
            <a:r>
              <a:rPr lang="es-CO" dirty="0"/>
              <a:t>Descripción de la problemática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86485E6-E51D-6CF0-E50A-9220A692A6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39106"/>
            <a:ext cx="5415951" cy="248253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DE7257D-5EB7-BA8A-8F89-78C95D0669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0119" y="3925577"/>
            <a:ext cx="7040249" cy="2271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967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B9845-BEDC-50FF-F16F-D18034119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FA6CE4-EB24-601F-BBE8-358ECCDE5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5913"/>
            <a:ext cx="10515600" cy="666729"/>
          </a:xfrm>
        </p:spPr>
        <p:txBody>
          <a:bodyPr>
            <a:normAutofit fontScale="90000"/>
          </a:bodyPr>
          <a:lstStyle/>
          <a:p>
            <a:r>
              <a:rPr lang="es-CO" dirty="0"/>
              <a:t>Descripción de la problemática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8B3BB7F-141A-7FC9-07AF-7903B389E4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8211"/>
            <a:ext cx="6694099" cy="3464979"/>
          </a:xfrm>
          <a:prstGeom prst="rect">
            <a:avLst/>
          </a:prstGeom>
        </p:spPr>
      </p:pic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CD3E5EE0-3D65-C346-9A41-AC304C818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3553"/>
            <a:ext cx="6226834" cy="38287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sz="1400" dirty="0"/>
              <a:t>Ejemplo de búsqueda de un modelo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DED742-F6E4-06A4-839B-5153C1EDE9E8}"/>
              </a:ext>
            </a:extLst>
          </p:cNvPr>
          <p:cNvSpPr txBox="1"/>
          <p:nvPr/>
        </p:nvSpPr>
        <p:spPr>
          <a:xfrm>
            <a:off x="7684699" y="3200700"/>
            <a:ext cx="4341962" cy="302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</a:pPr>
            <a:r>
              <a:rPr lang="es-ES" sz="1600" b="1" dirty="0">
                <a:solidFill>
                  <a:srgbClr val="FF0000"/>
                </a:solidFill>
              </a:rPr>
              <a:t>Necesidad Identificada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</a:pPr>
            <a:r>
              <a:rPr lang="es-ES" sz="1400" dirty="0"/>
              <a:t>Como simplificar la búsqueda de un usuario que desea conocer, por ejemplo, los modelos especializados en convertir texto a imagen, que tengan menos de 9B de parámetros, que usen librerías como </a:t>
            </a:r>
            <a:r>
              <a:rPr lang="es-ES" sz="1400" dirty="0" err="1"/>
              <a:t>Diffursers</a:t>
            </a:r>
            <a:r>
              <a:rPr lang="es-ES" sz="1400" dirty="0"/>
              <a:t>, que estén en ingles y además desee filtrar por los autores que más publicaciones tengan en HF?  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</a:pPr>
            <a:r>
              <a:rPr lang="es-ES" sz="1400" dirty="0"/>
              <a:t>O un usuario que desee conocer ¿cómo ha evolucionado la participación de los países latinoamericanos en </a:t>
            </a:r>
            <a:r>
              <a:rPr lang="es-ES" sz="1400" dirty="0" err="1"/>
              <a:t>Hugging</a:t>
            </a:r>
            <a:r>
              <a:rPr lang="es-ES" sz="1400" dirty="0"/>
              <a:t> </a:t>
            </a:r>
            <a:r>
              <a:rPr lang="es-ES" sz="1400" dirty="0" err="1"/>
              <a:t>Face</a:t>
            </a:r>
            <a:r>
              <a:rPr lang="es-ES" sz="1400" dirty="0"/>
              <a:t> y cuáles destacan por sus aportes?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</a:pPr>
            <a:r>
              <a:rPr lang="es-ES" sz="1400" dirty="0"/>
              <a:t>Este tipo de preguntas requiere </a:t>
            </a:r>
            <a:r>
              <a:rPr lang="es-ES" sz="1400" b="1" dirty="0"/>
              <a:t>razonamiento global</a:t>
            </a:r>
            <a:r>
              <a:rPr lang="es-ES" sz="1400" dirty="0"/>
              <a:t>, contexto y relaciones entre entidades, algo que RAG por sí solo no logra.</a:t>
            </a:r>
          </a:p>
        </p:txBody>
      </p:sp>
    </p:spTree>
    <p:extLst>
      <p:ext uri="{BB962C8B-B14F-4D97-AF65-F5344CB8AC3E}">
        <p14:creationId xmlns:p14="http://schemas.microsoft.com/office/powerpoint/2010/main" val="2733782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24132" y="187286"/>
            <a:ext cx="10515600" cy="666729"/>
          </a:xfrm>
        </p:spPr>
        <p:txBody>
          <a:bodyPr>
            <a:normAutofit fontScale="90000"/>
          </a:bodyPr>
          <a:lstStyle/>
          <a:p>
            <a:r>
              <a:rPr lang="es-CO" dirty="0"/>
              <a:t>Descripción de la problemática 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24132" y="1328610"/>
            <a:ext cx="6226834" cy="382872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sz="1600" b="1" dirty="0"/>
              <a:t>Limitaciones de los Grandes Modelos de Lenguaje (</a:t>
            </a:r>
            <a:r>
              <a:rPr lang="es-ES" sz="1600" b="1" dirty="0" err="1"/>
              <a:t>LLMs</a:t>
            </a:r>
            <a:r>
              <a:rPr lang="es-ES" sz="1600" b="1" dirty="0"/>
              <a:t>)</a:t>
            </a:r>
          </a:p>
          <a:p>
            <a:r>
              <a:rPr lang="es-ES" sz="1400" dirty="0"/>
              <a:t>Generan </a:t>
            </a:r>
            <a:r>
              <a:rPr lang="es-ES" sz="1400" i="1" dirty="0"/>
              <a:t>alucinaciones</a:t>
            </a:r>
            <a:r>
              <a:rPr lang="es-ES" sz="1400" dirty="0"/>
              <a:t>: información plausible pero incorrecta.</a:t>
            </a:r>
          </a:p>
          <a:p>
            <a:r>
              <a:rPr lang="es-ES" sz="1400" dirty="0"/>
              <a:t>Dependencia de datos desactualizados (solo entrenamiento).</a:t>
            </a:r>
          </a:p>
          <a:p>
            <a:r>
              <a:rPr lang="es-ES" sz="1400" dirty="0"/>
              <a:t>Falta de trazabilidad y transparencia en el razonamiento.</a:t>
            </a:r>
          </a:p>
          <a:p>
            <a:r>
              <a:rPr lang="es-ES" sz="1400" dirty="0"/>
              <a:t>Problemas más pronunciados en dominios especializados y poco representados.</a:t>
            </a:r>
          </a:p>
          <a:p>
            <a:pPr marL="0" indent="0">
              <a:buNone/>
            </a:pPr>
            <a:endParaRPr lang="es-ES" sz="1400" b="1" dirty="0"/>
          </a:p>
          <a:p>
            <a:pPr marL="0" indent="0">
              <a:buNone/>
            </a:pPr>
            <a:r>
              <a:rPr lang="es-ES" sz="1600" b="1" dirty="0"/>
              <a:t>Limitaciones del RAG Convencional</a:t>
            </a:r>
          </a:p>
          <a:p>
            <a:r>
              <a:rPr lang="es-ES" sz="1400" dirty="0"/>
              <a:t>Funciona bien para recuperar información puntual.</a:t>
            </a:r>
          </a:p>
          <a:p>
            <a:r>
              <a:rPr lang="es-ES" sz="1400" dirty="0"/>
              <a:t>Pero falla en </a:t>
            </a:r>
            <a:r>
              <a:rPr lang="es-ES" sz="1400" b="1" dirty="0"/>
              <a:t>preguntas complejas o de comprensión global (</a:t>
            </a:r>
            <a:r>
              <a:rPr lang="es-ES" sz="1400" b="1" dirty="0" err="1"/>
              <a:t>sensemaking</a:t>
            </a:r>
            <a:r>
              <a:rPr lang="es-ES" sz="1400" b="1" dirty="0"/>
              <a:t>)</a:t>
            </a:r>
            <a:r>
              <a:rPr lang="es-ES" sz="1400" dirty="0"/>
              <a:t>.</a:t>
            </a:r>
          </a:p>
          <a:p>
            <a:r>
              <a:rPr lang="es-ES" sz="1400" dirty="0"/>
              <a:t>No captura relaciones, jerarquías ni contexto profundo.</a:t>
            </a:r>
          </a:p>
          <a:p>
            <a:r>
              <a:rPr lang="es-ES" sz="1400" dirty="0"/>
              <a:t>Depende fuertemente de la calidad y estructura del corpus.</a:t>
            </a:r>
          </a:p>
          <a:p>
            <a:r>
              <a:rPr lang="es-ES" sz="1400" dirty="0"/>
              <a:t>Difícil “conectar los puntos” entre información dispersa.</a:t>
            </a:r>
          </a:p>
          <a:p>
            <a:pPr marL="0" indent="0">
              <a:buNone/>
            </a:pPr>
            <a:endParaRPr lang="es-ES" sz="1400" dirty="0"/>
          </a:p>
          <a:p>
            <a:endParaRPr lang="es-CO" sz="1400" dirty="0"/>
          </a:p>
        </p:txBody>
      </p:sp>
    </p:spTree>
    <p:extLst>
      <p:ext uri="{BB962C8B-B14F-4D97-AF65-F5344CB8AC3E}">
        <p14:creationId xmlns:p14="http://schemas.microsoft.com/office/powerpoint/2010/main" val="356544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D7423-38FD-92F7-FF26-E490F2231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68D6D7-4798-B4A7-28EC-1794ED0BB6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023" y="888662"/>
            <a:ext cx="10515600" cy="3828726"/>
          </a:xfrm>
        </p:spPr>
        <p:txBody>
          <a:bodyPr/>
          <a:lstStyle/>
          <a:p>
            <a:pPr marL="0" indent="0">
              <a:buNone/>
            </a:pPr>
            <a:r>
              <a:rPr lang="es-ES" sz="1600" b="1" dirty="0"/>
              <a:t>Solución propuesta: </a:t>
            </a:r>
            <a:r>
              <a:rPr lang="es-ES" sz="1600" b="1" dirty="0" err="1"/>
              <a:t>Graph</a:t>
            </a:r>
            <a:r>
              <a:rPr lang="es-ES" sz="1600" b="1" dirty="0"/>
              <a:t> </a:t>
            </a:r>
            <a:r>
              <a:rPr lang="es-ES" sz="1600" b="1" dirty="0" err="1"/>
              <a:t>traversal</a:t>
            </a:r>
            <a:r>
              <a:rPr lang="es-ES" sz="1600" b="1" dirty="0"/>
              <a:t> + RAG  (</a:t>
            </a:r>
            <a:r>
              <a:rPr lang="es-ES" sz="1600" b="1" dirty="0" err="1"/>
              <a:t>GraphRAG</a:t>
            </a:r>
            <a:r>
              <a:rPr lang="es-ES" sz="1600" b="1" dirty="0"/>
              <a:t>)</a:t>
            </a:r>
          </a:p>
          <a:p>
            <a:r>
              <a:rPr lang="es-ES" sz="1400" dirty="0"/>
              <a:t>Combina </a:t>
            </a:r>
            <a:r>
              <a:rPr lang="es-ES" sz="1400" b="1" dirty="0"/>
              <a:t>grafos de conocimiento + RAG tradicional</a:t>
            </a:r>
            <a:r>
              <a:rPr lang="es-ES" sz="1400" dirty="0"/>
              <a:t> + </a:t>
            </a:r>
            <a:r>
              <a:rPr lang="es-ES" sz="1400" b="1" dirty="0" err="1"/>
              <a:t>LLMs</a:t>
            </a:r>
            <a:r>
              <a:rPr lang="es-ES" sz="1400" dirty="0"/>
              <a:t>.</a:t>
            </a:r>
          </a:p>
          <a:p>
            <a:r>
              <a:rPr lang="es-ES" sz="1400" dirty="0"/>
              <a:t>Grafo de conocimientos representa entidades y relaciones de manera explícita e interpretable.</a:t>
            </a:r>
          </a:p>
          <a:p>
            <a:r>
              <a:rPr lang="es-ES" sz="1400" dirty="0"/>
              <a:t>Permite razonamiento estructurado y contextual.</a:t>
            </a:r>
          </a:p>
          <a:p>
            <a:r>
              <a:rPr lang="es-ES" sz="1400" dirty="0"/>
              <a:t>Mejora la coherencia, exhaustividad, precisión y reduce alucinaciones.</a:t>
            </a:r>
          </a:p>
          <a:p>
            <a:r>
              <a:rPr lang="es-ES" sz="1400" dirty="0"/>
              <a:t>Ancla las respuestas en una base contextual factual verificable.</a:t>
            </a:r>
          </a:p>
          <a:p>
            <a:endParaRPr lang="en-US" sz="2400" dirty="0"/>
          </a:p>
        </p:txBody>
      </p:sp>
      <p:pic>
        <p:nvPicPr>
          <p:cNvPr id="2050" name="Picture 2" descr="Neo4j LLM Knowledge Graph Builder - Extract Nodes and Relationships from  Unstructured Text - Neo4j Labs">
            <a:extLst>
              <a:ext uri="{FF2B5EF4-FFF2-40B4-BE49-F238E27FC236}">
                <a16:creationId xmlns:a16="http://schemas.microsoft.com/office/drawing/2014/main" id="{FA7692A7-1675-0E4F-B99C-1FB00C1D74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3724" y="2344989"/>
            <a:ext cx="5579253" cy="3865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DCED3CC-BC80-36AB-2F3C-B44F5C2F0219}"/>
              </a:ext>
            </a:extLst>
          </p:cNvPr>
          <p:cNvSpPr txBox="1"/>
          <p:nvPr/>
        </p:nvSpPr>
        <p:spPr>
          <a:xfrm>
            <a:off x="6178669" y="6173715"/>
            <a:ext cx="60945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/>
              <a:t>Fuente : https://neo4j.com/labs/genai-ecosystem/llm-graph-builder/</a:t>
            </a:r>
          </a:p>
        </p:txBody>
      </p:sp>
    </p:spTree>
    <p:extLst>
      <p:ext uri="{BB962C8B-B14F-4D97-AF65-F5344CB8AC3E}">
        <p14:creationId xmlns:p14="http://schemas.microsoft.com/office/powerpoint/2010/main" val="467250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3FEE4-F1CB-2C81-C895-3AE62B80B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0EDA21-7DCB-920B-4800-454538112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891"/>
            <a:ext cx="8662358" cy="503559"/>
          </a:xfrm>
        </p:spPr>
        <p:txBody>
          <a:bodyPr>
            <a:normAutofit fontScale="90000"/>
          </a:bodyPr>
          <a:lstStyle/>
          <a:p>
            <a:r>
              <a:rPr lang="es-CO" dirty="0"/>
              <a:t>Estado del arte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E7204B-73D9-EF5E-E43F-5375D0254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7" y="1187500"/>
            <a:ext cx="5088147" cy="1897670"/>
          </a:xfrm>
        </p:spPr>
        <p:txBody>
          <a:bodyPr/>
          <a:lstStyle/>
          <a:p>
            <a:pPr marL="0" indent="0">
              <a:buNone/>
            </a:pPr>
            <a:r>
              <a:rPr lang="es-ES" sz="1800" b="1" dirty="0"/>
              <a:t>Aplicaciones destacadas de </a:t>
            </a:r>
            <a:r>
              <a:rPr lang="es-ES" sz="1800" b="1" dirty="0" err="1"/>
              <a:t>GraphRAG</a:t>
            </a:r>
            <a:endParaRPr lang="es-ES" sz="1800" b="1" dirty="0"/>
          </a:p>
          <a:p>
            <a:r>
              <a:rPr lang="es-ES" sz="1400" dirty="0"/>
              <a:t>Diagnóstico de fallas aeronáuticas (</a:t>
            </a:r>
            <a:r>
              <a:rPr lang="es-ES" sz="1400" dirty="0" err="1"/>
              <a:t>Xie</a:t>
            </a:r>
            <a:r>
              <a:rPr lang="es-ES" sz="1400" dirty="0"/>
              <a:t>, 2025)</a:t>
            </a:r>
          </a:p>
          <a:p>
            <a:r>
              <a:rPr lang="es-ES" sz="1400" dirty="0"/>
              <a:t>Identificación de desechos orbitales (Roll, 2025)</a:t>
            </a:r>
          </a:p>
          <a:p>
            <a:r>
              <a:rPr lang="es-ES" sz="1400" dirty="0"/>
              <a:t>Búsqueda inteligente en minería (Li, 2025)</a:t>
            </a:r>
          </a:p>
          <a:p>
            <a:r>
              <a:rPr lang="es-ES" sz="1400" dirty="0"/>
              <a:t>Sistemas de gobierno electrónico (</a:t>
            </a:r>
            <a:r>
              <a:rPr lang="es-ES" sz="1400" dirty="0" err="1"/>
              <a:t>Papageorgiou</a:t>
            </a:r>
            <a:r>
              <a:rPr lang="es-ES" sz="1400" dirty="0"/>
              <a:t>, 2025)</a:t>
            </a:r>
          </a:p>
          <a:p>
            <a:endParaRPr lang="es-CO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267B71-7D83-ACDE-681C-96C702E245A8}"/>
              </a:ext>
            </a:extLst>
          </p:cNvPr>
          <p:cNvSpPr txBox="1"/>
          <p:nvPr/>
        </p:nvSpPr>
        <p:spPr>
          <a:xfrm>
            <a:off x="838197" y="3352589"/>
            <a:ext cx="508814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b="1" dirty="0"/>
              <a:t>Rendimiento vs. RAG Convencional</a:t>
            </a:r>
          </a:p>
          <a:p>
            <a:r>
              <a:rPr lang="es-ES" sz="1400" dirty="0" err="1"/>
              <a:t>GraphRAG</a:t>
            </a:r>
            <a:r>
              <a:rPr lang="es-ES" sz="1400" dirty="0"/>
              <a:t> supera al RAG tradicional en:</a:t>
            </a:r>
          </a:p>
          <a:p>
            <a:r>
              <a:rPr lang="es-ES" sz="1400" b="1" dirty="0"/>
              <a:t>      Exhaustividad</a:t>
            </a:r>
            <a:endParaRPr lang="es-ES" sz="1400" dirty="0"/>
          </a:p>
          <a:p>
            <a:r>
              <a:rPr lang="es-ES" sz="1400" b="1" dirty="0"/>
              <a:t>      Diversidad de perspectivas</a:t>
            </a:r>
          </a:p>
          <a:p>
            <a:r>
              <a:rPr lang="es-ES" sz="1400" b="1" dirty="0"/>
              <a:t>      </a:t>
            </a:r>
            <a:r>
              <a:rPr lang="es-ES" sz="1400" dirty="0"/>
              <a:t>Estudios muestran victoria de </a:t>
            </a:r>
            <a:r>
              <a:rPr lang="es-ES" sz="1400" b="1" dirty="0"/>
              <a:t>65%–80%</a:t>
            </a:r>
            <a:r>
              <a:rPr lang="es-ES" sz="1400" dirty="0"/>
              <a:t> sobre RAG (Darren       Edge, 2025).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E7152B-EAEB-A13F-348F-C4D7AC6417B1}"/>
              </a:ext>
            </a:extLst>
          </p:cNvPr>
          <p:cNvSpPr txBox="1"/>
          <p:nvPr/>
        </p:nvSpPr>
        <p:spPr>
          <a:xfrm>
            <a:off x="6096000" y="1086797"/>
            <a:ext cx="5400135" cy="4776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b="1" dirty="0"/>
              <a:t>Métricas clave en la literatura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</a:pPr>
            <a:r>
              <a:rPr lang="es-ES" sz="1400" b="1" dirty="0"/>
              <a:t>Exhaustividad</a:t>
            </a:r>
          </a:p>
          <a:p>
            <a:pPr>
              <a:buNone/>
            </a:pPr>
            <a:r>
              <a:rPr lang="es-ES" sz="1400" dirty="0"/>
              <a:t>Evalúa si la respuesta cubre: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400" dirty="0"/>
              <a:t>Todos los temas relevantes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400" dirty="0"/>
              <a:t>Todas las perspectivas presentes en el corpus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</a:pPr>
            <a:r>
              <a:rPr lang="es-ES" sz="1400" b="1" dirty="0"/>
              <a:t>Diversidad</a:t>
            </a:r>
          </a:p>
          <a:p>
            <a:pPr>
              <a:buNone/>
            </a:pPr>
            <a:r>
              <a:rPr lang="es-ES" sz="1400" dirty="0"/>
              <a:t>Mide: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400" dirty="0"/>
              <a:t>Cantidad de enfoques utilizados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400" dirty="0"/>
              <a:t>Variedad conceptual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400" dirty="0"/>
              <a:t>Riqueza de interpretaciones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</a:pPr>
            <a:r>
              <a:rPr lang="es-ES" sz="1400" b="1" dirty="0"/>
              <a:t>Empoderamiento</a:t>
            </a:r>
            <a:r>
              <a:rPr lang="es-ES" sz="1400" dirty="0"/>
              <a:t> </a:t>
            </a:r>
          </a:p>
          <a:p>
            <a:pPr marL="285750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" sz="1400" dirty="0"/>
              <a:t>Que tan bien la respuesta ayuda al usuario a alcanzar un entendimiento para tomar decisiones informadas acerca del dominio.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</a:pPr>
            <a:endParaRPr lang="es-ES" sz="1400" dirty="0"/>
          </a:p>
          <a:p>
            <a:pPr>
              <a:buNone/>
            </a:pPr>
            <a:r>
              <a:rPr lang="es-ES" sz="1400" b="1" dirty="0" err="1"/>
              <a:t>GraphRAG</a:t>
            </a:r>
            <a:r>
              <a:rPr lang="es-ES" sz="1400" dirty="0"/>
              <a:t> destaca porque expande el contexto mediante relaciones explícitas del grafo.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A7563D-090C-F5DB-FD5E-CEE45294BB15}"/>
              </a:ext>
            </a:extLst>
          </p:cNvPr>
          <p:cNvSpPr/>
          <p:nvPr/>
        </p:nvSpPr>
        <p:spPr>
          <a:xfrm>
            <a:off x="6096000" y="1086797"/>
            <a:ext cx="5257803" cy="47766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3740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D707C-0D3C-B5CF-A1DD-11CB6FDA5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A93E5-E598-FF5E-983F-BAD8B8315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7" y="197749"/>
            <a:ext cx="8662358" cy="503559"/>
          </a:xfrm>
        </p:spPr>
        <p:txBody>
          <a:bodyPr>
            <a:normAutofit fontScale="90000"/>
          </a:bodyPr>
          <a:lstStyle/>
          <a:p>
            <a:r>
              <a:rPr lang="es-CO" dirty="0"/>
              <a:t>Estado del arte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408492-C351-C169-F7C2-961E6E8CC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7" y="1178874"/>
            <a:ext cx="5088147" cy="189767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ES" sz="1700" b="1" dirty="0"/>
              <a:t>Originalidad del Presente Trabajo</a:t>
            </a:r>
          </a:p>
          <a:p>
            <a:pPr marL="0" indent="0">
              <a:buNone/>
            </a:pPr>
            <a:r>
              <a:rPr lang="es-ES" sz="1400" b="1" dirty="0"/>
              <a:t>Aportes diferenciales</a:t>
            </a:r>
          </a:p>
          <a:p>
            <a:r>
              <a:rPr lang="es-ES" sz="1400" dirty="0"/>
              <a:t>Construcción de un </a:t>
            </a:r>
            <a:r>
              <a:rPr lang="es-ES" sz="1400" b="1" dirty="0"/>
              <a:t>grafo de conocimiento estructurado</a:t>
            </a:r>
            <a:r>
              <a:rPr lang="es-ES" sz="1400" dirty="0"/>
              <a:t> en </a:t>
            </a:r>
            <a:r>
              <a:rPr lang="es-ES" sz="1400" b="1" dirty="0"/>
              <a:t>Neo4j</a:t>
            </a:r>
            <a:r>
              <a:rPr lang="es-ES" sz="1400" dirty="0"/>
              <a:t> a partir de </a:t>
            </a:r>
            <a:r>
              <a:rPr lang="es-ES" sz="1400" i="1" dirty="0" err="1"/>
              <a:t>Hugging</a:t>
            </a:r>
            <a:r>
              <a:rPr lang="es-ES" sz="1400" i="1" dirty="0"/>
              <a:t> </a:t>
            </a:r>
            <a:r>
              <a:rPr lang="es-ES" sz="1400" i="1" dirty="0" err="1"/>
              <a:t>Face</a:t>
            </a:r>
            <a:r>
              <a:rPr lang="es-ES" sz="1400" i="1" dirty="0"/>
              <a:t> </a:t>
            </a:r>
            <a:r>
              <a:rPr lang="es-ES" sz="1400" i="1" dirty="0" err="1"/>
              <a:t>Community</a:t>
            </a:r>
            <a:r>
              <a:rPr lang="es-ES" sz="1400" i="1" dirty="0"/>
              <a:t> (</a:t>
            </a:r>
            <a:r>
              <a:rPr lang="es-ES" sz="1400" i="1" dirty="0" err="1"/>
              <a:t>HFCommunity</a:t>
            </a:r>
            <a:r>
              <a:rPr lang="es-ES" sz="1400" i="1" dirty="0"/>
              <a:t>)</a:t>
            </a:r>
            <a:r>
              <a:rPr lang="es-ES" sz="1400" dirty="0"/>
              <a:t>.</a:t>
            </a:r>
          </a:p>
          <a:p>
            <a:r>
              <a:rPr lang="es-ES" sz="1400" dirty="0"/>
              <a:t>Integración directa de este grafo como insumo principal dentro del </a:t>
            </a:r>
            <a:r>
              <a:rPr lang="es-ES" sz="1400" b="1" dirty="0"/>
              <a:t>pipeline </a:t>
            </a:r>
            <a:r>
              <a:rPr lang="es-ES" sz="1400" b="1" dirty="0" err="1"/>
              <a:t>GraphRAG</a:t>
            </a:r>
            <a:r>
              <a:rPr lang="es-ES" sz="1400" dirty="0"/>
              <a:t>.</a:t>
            </a:r>
          </a:p>
          <a:p>
            <a:r>
              <a:rPr lang="es-ES" sz="1400" dirty="0"/>
              <a:t>Una de las </a:t>
            </a:r>
            <a:r>
              <a:rPr lang="es-ES" sz="1400" b="1" dirty="0"/>
              <a:t>primeras aplicaciones en Colombia</a:t>
            </a:r>
            <a:r>
              <a:rPr lang="es-ES" sz="1400" dirty="0"/>
              <a:t> de un </a:t>
            </a:r>
            <a:r>
              <a:rPr lang="es-ES" sz="1400" dirty="0" err="1"/>
              <a:t>framework</a:t>
            </a:r>
            <a:r>
              <a:rPr lang="es-ES" sz="1400" dirty="0"/>
              <a:t> </a:t>
            </a:r>
            <a:r>
              <a:rPr lang="es-ES" sz="1400" dirty="0" err="1"/>
              <a:t>GraphRAG</a:t>
            </a:r>
            <a:r>
              <a:rPr lang="es-ES" sz="1400" dirty="0"/>
              <a:t> aplicado a IA abierta.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150556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E5291-D203-71DB-39CF-1D876DEC5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F62276-15B5-C6ED-187B-E6BAC51C8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6012"/>
            <a:ext cx="10515600" cy="1325563"/>
          </a:xfrm>
        </p:spPr>
        <p:txBody>
          <a:bodyPr/>
          <a:lstStyle/>
          <a:p>
            <a:r>
              <a:rPr lang="es-CO" dirty="0"/>
              <a:t>Objetivos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8AC536C-8E39-5F73-A154-26A3C7F2A4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7988"/>
            <a:ext cx="10515600" cy="3828726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s-ES" sz="2900" b="1" dirty="0"/>
              <a:t>Objetivo General</a:t>
            </a:r>
            <a:endParaRPr lang="en-US" sz="2900" dirty="0"/>
          </a:p>
          <a:p>
            <a:pPr lvl="0"/>
            <a:r>
              <a:rPr lang="es-ES" dirty="0"/>
              <a:t>Caracterizar el proceso de construcción de conocimiento sobre inteligencia artificial abierta utilizando </a:t>
            </a:r>
            <a:r>
              <a:rPr lang="es-ES" dirty="0" err="1"/>
              <a:t>Hugging</a:t>
            </a:r>
            <a:r>
              <a:rPr lang="es-ES" dirty="0"/>
              <a:t> </a:t>
            </a:r>
            <a:r>
              <a:rPr lang="es-ES" dirty="0" err="1"/>
              <a:t>Face</a:t>
            </a:r>
            <a:r>
              <a:rPr lang="es-ES" dirty="0"/>
              <a:t> como base de datos y la tecnología </a:t>
            </a:r>
            <a:r>
              <a:rPr lang="es-ES" dirty="0" err="1"/>
              <a:t>GraphRAG</a:t>
            </a:r>
            <a:r>
              <a:rPr lang="es-ES" dirty="0"/>
              <a:t>. </a:t>
            </a:r>
            <a:endParaRPr lang="en-US" dirty="0"/>
          </a:p>
          <a:p>
            <a:pPr marL="0" indent="0">
              <a:buNone/>
            </a:pPr>
            <a:r>
              <a:rPr lang="es-ES" sz="2900" b="1" dirty="0"/>
              <a:t>Objetivos específicos:</a:t>
            </a:r>
            <a:endParaRPr lang="en-US" sz="2900" dirty="0"/>
          </a:p>
          <a:p>
            <a:pPr lvl="0"/>
            <a:r>
              <a:rPr lang="es-ES" dirty="0"/>
              <a:t>Realizar la descarga, exploración y análisis del </a:t>
            </a:r>
            <a:r>
              <a:rPr lang="es-ES" dirty="0" err="1"/>
              <a:t>dump</a:t>
            </a:r>
            <a:r>
              <a:rPr lang="es-ES" dirty="0"/>
              <a:t> file de la base de datos de </a:t>
            </a:r>
            <a:r>
              <a:rPr lang="es-ES" dirty="0" err="1"/>
              <a:t>HuggingFace</a:t>
            </a:r>
            <a:r>
              <a:rPr lang="es-ES" dirty="0"/>
              <a:t>, seguido de la configuración del entorno en Neo4j para construir el grafo de conocimientos.</a:t>
            </a:r>
            <a:endParaRPr lang="en-US" dirty="0"/>
          </a:p>
          <a:p>
            <a:pPr lvl="0"/>
            <a:r>
              <a:rPr lang="es-ES" dirty="0"/>
              <a:t>Implementar una aplicación basada en Inteligencia Artificial Generativa (</a:t>
            </a:r>
            <a:r>
              <a:rPr lang="es-ES" dirty="0" err="1"/>
              <a:t>GenAI</a:t>
            </a:r>
            <a:r>
              <a:rPr lang="es-ES" dirty="0"/>
              <a:t> </a:t>
            </a:r>
            <a:r>
              <a:rPr lang="es-ES" dirty="0" err="1"/>
              <a:t>Application</a:t>
            </a:r>
            <a:r>
              <a:rPr lang="es-ES" dirty="0"/>
              <a:t>) que integre un módulo de recuperación de información estructurada mediante </a:t>
            </a:r>
            <a:r>
              <a:rPr lang="es-ES" dirty="0" err="1"/>
              <a:t>Graph</a:t>
            </a:r>
            <a:r>
              <a:rPr lang="es-ES" dirty="0"/>
              <a:t> </a:t>
            </a:r>
            <a:r>
              <a:rPr lang="es-ES" dirty="0" err="1"/>
              <a:t>Retrieval</a:t>
            </a:r>
            <a:r>
              <a:rPr lang="es-ES" dirty="0"/>
              <a:t> sobre un grafo de conocimiento, con el fin de generar contextos semánticamente relevantes para consultas en lenguaje natural. </a:t>
            </a:r>
            <a:endParaRPr lang="en-US" dirty="0"/>
          </a:p>
          <a:p>
            <a:pPr lvl="0"/>
            <a:r>
              <a:rPr lang="es-ES" dirty="0"/>
              <a:t>Adaptar la técnica LLM-as-a-</a:t>
            </a:r>
            <a:r>
              <a:rPr lang="es-ES" dirty="0" err="1"/>
              <a:t>Judge</a:t>
            </a:r>
            <a:r>
              <a:rPr lang="es-ES" dirty="0"/>
              <a:t> (Zheng et al., 2024) a la construcción de conocimientos sobre inteligencia artificial abierta ( </a:t>
            </a:r>
            <a:r>
              <a:rPr lang="es-ES" dirty="0" err="1"/>
              <a:t>Hugging</a:t>
            </a:r>
            <a:r>
              <a:rPr lang="es-ES" dirty="0"/>
              <a:t> </a:t>
            </a:r>
            <a:r>
              <a:rPr lang="es-ES" dirty="0" err="1"/>
              <a:t>Face</a:t>
            </a:r>
            <a:r>
              <a:rPr lang="es-ES" dirty="0"/>
              <a:t>) para preguntas amplias o temáticas donde no existe una respuesta “completamente verdadera” (</a:t>
            </a:r>
            <a:r>
              <a:rPr lang="es-ES" dirty="0" err="1"/>
              <a:t>ground</a:t>
            </a:r>
            <a:r>
              <a:rPr lang="es-ES" dirty="0"/>
              <a:t> </a:t>
            </a:r>
            <a:r>
              <a:rPr lang="es-ES" dirty="0" err="1"/>
              <a:t>truth</a:t>
            </a:r>
            <a:r>
              <a:rPr lang="es-ES" dirty="0"/>
              <a:t>) a consultas. Esta metodología utiliza un primer LLM para generar un conjunto diverso de preguntas de </a:t>
            </a:r>
            <a:r>
              <a:rPr lang="es-ES" dirty="0" err="1"/>
              <a:t>sensemaking</a:t>
            </a:r>
            <a:r>
              <a:rPr lang="es-ES" dirty="0"/>
              <a:t> sobre un corpus específico, y un segundo LLM para evaluar las respuestas generadas según criterios predefinidos y poder comparar una implementación de RAG tradicional con </a:t>
            </a:r>
            <a:r>
              <a:rPr lang="es-ES" dirty="0" err="1"/>
              <a:t>graphRAG</a:t>
            </a:r>
            <a:endParaRPr lang="en-US" dirty="0"/>
          </a:p>
          <a:p>
            <a:r>
              <a:rPr lang="es-ES" dirty="0"/>
              <a:t>Documentar el procedimiento de construcción de conocimiento asociado a la base de datos de </a:t>
            </a:r>
            <a:r>
              <a:rPr lang="es-ES" dirty="0" err="1"/>
              <a:t>Hugging</a:t>
            </a:r>
            <a:r>
              <a:rPr lang="es-ES" dirty="0"/>
              <a:t> </a:t>
            </a:r>
            <a:r>
              <a:rPr lang="es-ES" dirty="0" err="1"/>
              <a:t>Face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843032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B7228-28FD-8FF9-12CD-D59DF1A3D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D015FC-D29A-8584-9A6F-9EF6556DF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9884"/>
            <a:ext cx="10515600" cy="1325563"/>
          </a:xfrm>
        </p:spPr>
        <p:txBody>
          <a:bodyPr/>
          <a:lstStyle/>
          <a:p>
            <a:r>
              <a:rPr lang="es-CO" dirty="0"/>
              <a:t>Metodología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EA1A9E-4D9A-3E23-B583-777B735022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459858" y="1662497"/>
            <a:ext cx="8305244" cy="3533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182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9B1CB-7493-05BA-1DEE-35A37FAEE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48ED13-4D91-99F3-0A00-6D5FB8B7C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9884"/>
            <a:ext cx="10515600" cy="1325563"/>
          </a:xfrm>
        </p:spPr>
        <p:txBody>
          <a:bodyPr/>
          <a:lstStyle/>
          <a:p>
            <a:r>
              <a:rPr lang="es-CO" dirty="0"/>
              <a:t>Metodología </a:t>
            </a:r>
          </a:p>
        </p:txBody>
      </p:sp>
      <p:pic>
        <p:nvPicPr>
          <p:cNvPr id="3" name="Image2">
            <a:extLst>
              <a:ext uri="{FF2B5EF4-FFF2-40B4-BE49-F238E27FC236}">
                <a16:creationId xmlns:a16="http://schemas.microsoft.com/office/drawing/2014/main" id="{98C4C66D-3508-DD59-E7C8-450D30C99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26165" y="2329108"/>
            <a:ext cx="9936394" cy="2199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7877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7C023-E280-A685-D766-F2957FFAF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7E848D-8A47-CE8E-3463-BBADEDAFE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2390"/>
            <a:ext cx="10515600" cy="1325563"/>
          </a:xfrm>
        </p:spPr>
        <p:txBody>
          <a:bodyPr/>
          <a:lstStyle/>
          <a:p>
            <a:r>
              <a:rPr lang="es-CO" dirty="0"/>
              <a:t>Metodología 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8DF60821-9F66-0239-9CAE-4C1564F108F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62018006"/>
              </p:ext>
            </p:extLst>
          </p:nvPr>
        </p:nvGraphicFramePr>
        <p:xfrm>
          <a:off x="838200" y="1105302"/>
          <a:ext cx="9909319" cy="51068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740603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A33274-83A3-EA38-58E0-EFE0DD042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724" y="-204129"/>
            <a:ext cx="10515600" cy="1325563"/>
          </a:xfrm>
        </p:spPr>
        <p:txBody>
          <a:bodyPr/>
          <a:lstStyle/>
          <a:p>
            <a:r>
              <a:rPr lang="es-CO" dirty="0"/>
              <a:t>Cronograma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0BF9BE-B06E-8BB1-86B6-7C62067A5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815" y="1121434"/>
            <a:ext cx="11027096" cy="4892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2997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B0F5E-396B-883E-C0CA-C349A3628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8DC0EC-28EA-1E4E-CB43-4DC1F554D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0033"/>
            <a:ext cx="10515600" cy="1325563"/>
          </a:xfrm>
        </p:spPr>
        <p:txBody>
          <a:bodyPr/>
          <a:lstStyle/>
          <a:p>
            <a:r>
              <a:rPr lang="es-CO" dirty="0"/>
              <a:t>Resultados esperados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2D46862-9F47-C294-986D-02F1FDA3D0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7401"/>
            <a:ext cx="10515600" cy="38287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1600" b="1" dirty="0"/>
              <a:t>Al finalizar el presente proyecto, se espera tener: </a:t>
            </a:r>
            <a:endParaRPr lang="en-US" sz="1600" b="1" dirty="0"/>
          </a:p>
          <a:p>
            <a:pPr lvl="0"/>
            <a:r>
              <a:rPr lang="es-ES" sz="1400" dirty="0"/>
              <a:t>Un agente de inteligencia artificial desarrollado en </a:t>
            </a:r>
            <a:r>
              <a:rPr lang="es-ES" sz="1400" dirty="0" err="1"/>
              <a:t>LangChain</a:t>
            </a:r>
            <a:r>
              <a:rPr lang="es-ES" sz="1400" dirty="0"/>
              <a:t>, capaz de responder preguntas en lenguaje natural sobre información contenida en la base de datos de </a:t>
            </a:r>
            <a:r>
              <a:rPr lang="es-ES" sz="1400" dirty="0" err="1"/>
              <a:t>Hugging</a:t>
            </a:r>
            <a:r>
              <a:rPr lang="es-ES" sz="1400" dirty="0"/>
              <a:t> </a:t>
            </a:r>
            <a:r>
              <a:rPr lang="es-ES" sz="1400" dirty="0" err="1"/>
              <a:t>Face</a:t>
            </a:r>
            <a:r>
              <a:rPr lang="es-ES" sz="1400" dirty="0"/>
              <a:t> mediante razonamiento apoyado en el grafo de conocimiento.</a:t>
            </a:r>
            <a:endParaRPr lang="en-US" sz="1400" dirty="0"/>
          </a:p>
          <a:p>
            <a:pPr lvl="0"/>
            <a:r>
              <a:rPr lang="es-ES" sz="1400" dirty="0"/>
              <a:t>Una aplicación web operativa, desplegada en Azure, que permita a los usuarios interactuar con el agente mediante una interfaz sencilla tipo chat</a:t>
            </a:r>
            <a:endParaRPr lang="en-US" sz="1400" dirty="0"/>
          </a:p>
          <a:p>
            <a:pPr lvl="0"/>
            <a:r>
              <a:rPr lang="es-ES" sz="1400" dirty="0"/>
              <a:t>Evaluación de respuestas: La adaptación implementada de la técnica LLM-as-a-</a:t>
            </a:r>
            <a:r>
              <a:rPr lang="es-ES" sz="1400" dirty="0" err="1"/>
              <a:t>Judge</a:t>
            </a:r>
            <a:r>
              <a:rPr lang="es-ES" sz="1400" dirty="0"/>
              <a:t>, aplicada a la evaluación de respuestas mediante criterios definidos. (RAG vs </a:t>
            </a:r>
            <a:r>
              <a:rPr lang="es-ES" sz="1400" dirty="0" err="1"/>
              <a:t>graphRAG</a:t>
            </a:r>
            <a:r>
              <a:rPr lang="es-ES" sz="1400" dirty="0"/>
              <a:t>)</a:t>
            </a:r>
            <a:endParaRPr lang="en-US" sz="1400" dirty="0"/>
          </a:p>
          <a:p>
            <a:pPr lvl="0"/>
            <a:r>
              <a:rPr lang="es-ES" sz="1400" dirty="0"/>
              <a:t>La documentación completa del proceso, que incluya:</a:t>
            </a:r>
            <a:endParaRPr lang="en-US" sz="1400" dirty="0"/>
          </a:p>
          <a:p>
            <a:pPr lvl="1"/>
            <a:r>
              <a:rPr lang="es-ES" sz="1400" dirty="0"/>
              <a:t>descripción del flujo metodológico,</a:t>
            </a:r>
            <a:endParaRPr lang="en-US" sz="1400" dirty="0"/>
          </a:p>
          <a:p>
            <a:pPr lvl="1"/>
            <a:r>
              <a:rPr lang="es-ES" sz="1400" dirty="0"/>
              <a:t>arquitectura del sistema</a:t>
            </a:r>
            <a:endParaRPr lang="en-US" sz="1400" dirty="0"/>
          </a:p>
          <a:p>
            <a:pPr lvl="1"/>
            <a:r>
              <a:rPr lang="es-ES" sz="1400" dirty="0"/>
              <a:t>decisiones técnicas</a:t>
            </a:r>
            <a:endParaRPr lang="en-US" sz="1400" dirty="0"/>
          </a:p>
          <a:p>
            <a:pPr lvl="1"/>
            <a:r>
              <a:rPr lang="es-ES" sz="1400" dirty="0"/>
              <a:t>resultados obtenidos</a:t>
            </a:r>
            <a:endParaRPr lang="es-CO" sz="1400" dirty="0"/>
          </a:p>
        </p:txBody>
      </p:sp>
    </p:spTree>
    <p:extLst>
      <p:ext uri="{BB962C8B-B14F-4D97-AF65-F5344CB8AC3E}">
        <p14:creationId xmlns:p14="http://schemas.microsoft.com/office/powerpoint/2010/main" val="20778774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8F423-A31A-2B29-EC27-A4EB9B19D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558107-CCD4-002D-49F4-7E5A02034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5528"/>
            <a:ext cx="10515600" cy="1325563"/>
          </a:xfrm>
        </p:spPr>
        <p:txBody>
          <a:bodyPr/>
          <a:lstStyle/>
          <a:p>
            <a:r>
              <a:rPr lang="en-US" dirty="0" err="1"/>
              <a:t>Bibliografía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B8E14D-89FC-1095-7ED8-F10127709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741"/>
            <a:ext cx="10515600" cy="3828726"/>
          </a:xfrm>
        </p:spPr>
        <p:txBody>
          <a:bodyPr>
            <a:normAutofit fontScale="25000" lnSpcReduction="20000"/>
          </a:bodyPr>
          <a:lstStyle/>
          <a:p>
            <a:r>
              <a:rPr lang="en-US" sz="5600" dirty="0"/>
              <a:t>[1] Roll, D. S., Kurt, Z., Li, Y., &amp; Woo, W. L. (2025). Augmenting Orbital Debris Identification with Neo4j-Enabled Graph-Based Retrieval-Augmented Generation for Multimodal Large Language Models. </a:t>
            </a:r>
            <a:r>
              <a:rPr lang="es-ES_tradnl" sz="5600" dirty="0" err="1"/>
              <a:t>Sensors</a:t>
            </a:r>
            <a:r>
              <a:rPr lang="es-ES_tradnl" sz="5600" dirty="0"/>
              <a:t>, 25(11), 3352. </a:t>
            </a:r>
            <a:r>
              <a:rPr lang="es-ES_tradnl" sz="5600" dirty="0">
                <a:hlinkClick r:id="rId2"/>
              </a:rPr>
              <a:t>https://doi.org/10.3390/s25113352</a:t>
            </a:r>
            <a:endParaRPr lang="en-US" sz="5600" dirty="0"/>
          </a:p>
          <a:p>
            <a:r>
              <a:rPr lang="es-ES_tradnl" sz="5600" dirty="0"/>
              <a:t>[2] </a:t>
            </a:r>
            <a:r>
              <a:rPr lang="es-ES_tradnl" sz="5600" dirty="0" err="1"/>
              <a:t>Ait</a:t>
            </a:r>
            <a:r>
              <a:rPr lang="es-ES_tradnl" sz="5600" dirty="0"/>
              <a:t>, A., Cánovas Izquierdo, J. L., &amp; Cabot, J. (2024). </a:t>
            </a:r>
            <a:r>
              <a:rPr lang="en-US" sz="5600" dirty="0" err="1"/>
              <a:t>HFCommunity</a:t>
            </a:r>
            <a:r>
              <a:rPr lang="en-US" sz="5600" dirty="0"/>
              <a:t>: An extraction process and relational database to analyze Hugging Face Hub data. Science of Computer Programming, 234, 103079. </a:t>
            </a:r>
            <a:r>
              <a:rPr lang="en-US" sz="5600" dirty="0">
                <a:hlinkClick r:id="rId3"/>
              </a:rPr>
              <a:t>https://doi.org/10.1016/j.scico.2024.103079</a:t>
            </a:r>
            <a:endParaRPr lang="en-US" sz="5600" dirty="0"/>
          </a:p>
          <a:p>
            <a:r>
              <a:rPr lang="en-US" sz="5600" dirty="0"/>
              <a:t>[3] Li, B., Wang, Y., Ding, Z., Wang, B., &amp; Wen, S. (2025). Intelligent search technology for </a:t>
            </a:r>
            <a:r>
              <a:rPr lang="en-US" sz="5600" dirty="0" err="1"/>
              <a:t>Jiaodong</a:t>
            </a:r>
            <a:r>
              <a:rPr lang="en-US" sz="5600" dirty="0"/>
              <a:t> gold mines based on large models and </a:t>
            </a:r>
            <a:r>
              <a:rPr lang="en-US" sz="5600" dirty="0" err="1"/>
              <a:t>GraphRAG</a:t>
            </a:r>
            <a:r>
              <a:rPr lang="en-US" sz="5600" dirty="0"/>
              <a:t>. Earth Science Frontiers. </a:t>
            </a:r>
            <a:r>
              <a:rPr lang="en-US" sz="5600" dirty="0">
                <a:hlinkClick r:id="rId4"/>
              </a:rPr>
              <a:t>https://doi.org/10.13745/j.esf.sf.2025.4.77</a:t>
            </a:r>
            <a:endParaRPr lang="en-US" sz="5600" dirty="0"/>
          </a:p>
          <a:p>
            <a:r>
              <a:rPr lang="en-US" sz="5600" dirty="0"/>
              <a:t>[4] Xie, X., Tang, X., Gu, S., &amp; Cui, L. (2025). An intelligent guided troubleshooting method for aircraft based on </a:t>
            </a:r>
            <a:r>
              <a:rPr lang="en-US" sz="5600" dirty="0" err="1"/>
              <a:t>HybirdRAG</a:t>
            </a:r>
            <a:r>
              <a:rPr lang="en-US" sz="5600" dirty="0"/>
              <a:t>. Scientific Reports, 15, 17752. </a:t>
            </a:r>
            <a:r>
              <a:rPr lang="en-US" sz="5600" dirty="0">
                <a:hlinkClick r:id="rId5"/>
              </a:rPr>
              <a:t>https://doi.org/10.1038/s41598-025-02643-2</a:t>
            </a:r>
            <a:endParaRPr lang="en-US" sz="5600" dirty="0"/>
          </a:p>
          <a:p>
            <a:r>
              <a:rPr lang="en-US" sz="5600" dirty="0"/>
              <a:t>[5] Papageorgiou, G., </a:t>
            </a:r>
            <a:r>
              <a:rPr lang="en-US" sz="5600" dirty="0" err="1"/>
              <a:t>Sarlis</a:t>
            </a:r>
            <a:r>
              <a:rPr lang="en-US" sz="5600" dirty="0"/>
              <a:t>, V., </a:t>
            </a:r>
            <a:r>
              <a:rPr lang="en-US" sz="5600" dirty="0" err="1"/>
              <a:t>Maragoudakis</a:t>
            </a:r>
            <a:r>
              <a:rPr lang="en-US" sz="5600" dirty="0"/>
              <a:t>, M., &amp; </a:t>
            </a:r>
            <a:r>
              <a:rPr lang="en-US" sz="5600" dirty="0" err="1"/>
              <a:t>Tjortjis</a:t>
            </a:r>
            <a:r>
              <a:rPr lang="en-US" sz="5600" dirty="0"/>
              <a:t>, C. (2025). Hybrid Multi-Agent </a:t>
            </a:r>
            <a:r>
              <a:rPr lang="en-US" sz="5600" dirty="0" err="1"/>
              <a:t>GraphRAG</a:t>
            </a:r>
            <a:r>
              <a:rPr lang="en-US" sz="5600" dirty="0"/>
              <a:t> for E-Government: Towards a Trustworthy AI Assistant. Applied Sciences, 15(11), 6315 . </a:t>
            </a:r>
            <a:r>
              <a:rPr lang="en-US" sz="5600" dirty="0">
                <a:hlinkClick r:id="rId6"/>
              </a:rPr>
              <a:t>https://doi.org/10.3390/app15116315</a:t>
            </a:r>
            <a:r>
              <a:rPr lang="es-ES" sz="5600" dirty="0"/>
              <a:t> </a:t>
            </a:r>
            <a:endParaRPr lang="en-US" sz="5600" dirty="0"/>
          </a:p>
          <a:p>
            <a:r>
              <a:rPr lang="en-US" sz="5600" dirty="0"/>
              <a:t>[6] </a:t>
            </a:r>
            <a:r>
              <a:rPr lang="en-US" sz="5600" dirty="0" err="1"/>
              <a:t>Knollmeyer</a:t>
            </a:r>
            <a:r>
              <a:rPr lang="en-US" sz="5600" dirty="0"/>
              <a:t>, S., </a:t>
            </a:r>
            <a:r>
              <a:rPr lang="en-US" sz="5600" dirty="0" err="1"/>
              <a:t>Caymazer</a:t>
            </a:r>
            <a:r>
              <a:rPr lang="en-US" sz="5600" dirty="0"/>
              <a:t>, O., &amp; Grossmann, D. (2025). Document </a:t>
            </a:r>
            <a:r>
              <a:rPr lang="en-US" sz="5600" dirty="0" err="1"/>
              <a:t>GraphRAG</a:t>
            </a:r>
            <a:r>
              <a:rPr lang="en-US" sz="5600" dirty="0"/>
              <a:t>: Knowledge Graph Enhanced Retrieval Augmented Generation for Document Question Answering Within the Manufacturing Domain. Electronics, 14(11), 2102 </a:t>
            </a:r>
            <a:r>
              <a:rPr lang="en-US" sz="5600" dirty="0">
                <a:hlinkClick r:id="rId7"/>
              </a:rPr>
              <a:t>https://doi.org/10.3390/electronics14112102</a:t>
            </a:r>
            <a:r>
              <a:rPr lang="es-ES" sz="5600" dirty="0"/>
              <a:t> </a:t>
            </a:r>
            <a:endParaRPr lang="en-US" sz="5600" dirty="0"/>
          </a:p>
          <a:p>
            <a:r>
              <a:rPr lang="en-US" sz="5600" dirty="0"/>
              <a:t>[7] Edge, D., Trinh, H., Cheng, N., Bradley, J., Chao, A., Mody, A., Truitt, S., </a:t>
            </a:r>
            <a:r>
              <a:rPr lang="en-US" sz="5600" dirty="0" err="1"/>
              <a:t>Metropolitansky</a:t>
            </a:r>
            <a:r>
              <a:rPr lang="en-US" sz="5600" dirty="0"/>
              <a:t>, D., Ness, R. O., &amp; Larson, J. (2024). From Local to Global: A Graph RAG Approach to Query-Focused Summarization. </a:t>
            </a:r>
            <a:r>
              <a:rPr lang="es-ES_tradnl" sz="5600" dirty="0">
                <a:hlinkClick r:id="rId8"/>
              </a:rPr>
              <a:t>https://doi.org/10.48550/arXiv.2404.16130</a:t>
            </a:r>
            <a:endParaRPr lang="es-ES_tradnl" sz="5600" dirty="0"/>
          </a:p>
          <a:p>
            <a:r>
              <a:rPr lang="es-ES_tradnl" sz="5600" dirty="0"/>
              <a:t>[8] </a:t>
            </a:r>
            <a:r>
              <a:rPr lang="en-US" sz="5600" dirty="0"/>
              <a:t>Maina, J. K. (</a:t>
            </a:r>
            <a:r>
              <a:rPr lang="en-US" sz="5600" dirty="0" err="1"/>
              <a:t>s.f.</a:t>
            </a:r>
            <a:r>
              <a:rPr lang="en-US" sz="5600" dirty="0"/>
              <a:t>). The complete Hugging Face blueprint: A hands-on guide to developing and deploying models on Hugging Face with 150+ practical lessons.</a:t>
            </a:r>
          </a:p>
          <a:p>
            <a:r>
              <a:rPr lang="en-US" sz="5600" dirty="0"/>
              <a:t>[9] </a:t>
            </a:r>
            <a:r>
              <a:rPr lang="en-US" sz="5600" dirty="0" err="1"/>
              <a:t>Bratanič</a:t>
            </a:r>
            <a:r>
              <a:rPr lang="en-US" sz="5600" dirty="0"/>
              <a:t>, T., &amp; Hane, O. (2025). Essential </a:t>
            </a:r>
            <a:r>
              <a:rPr lang="en-US" sz="5600" dirty="0" err="1"/>
              <a:t>GraphRAG</a:t>
            </a:r>
            <a:r>
              <a:rPr lang="en-US" sz="5600" dirty="0"/>
              <a:t>: Knowledge Graph-Enhanced RAG. Manning.</a:t>
            </a:r>
          </a:p>
          <a:p>
            <a:pPr marL="0" indent="0">
              <a:buNone/>
            </a:pP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8690954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561560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677</TotalTime>
  <Words>1482</Words>
  <Application>Microsoft Office PowerPoint</Application>
  <PresentationFormat>Widescreen</PresentationFormat>
  <Paragraphs>107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Avenir Next LT Pro</vt:lpstr>
      <vt:lpstr>Calibri</vt:lpstr>
      <vt:lpstr>Calibri Light</vt:lpstr>
      <vt:lpstr>Tema de Office</vt:lpstr>
      <vt:lpstr>Construcción de conocimiento sobre Hugging Face usando GraphRAG</vt:lpstr>
      <vt:lpstr>Descripción de la problemática </vt:lpstr>
      <vt:lpstr>Descripción de la problemática </vt:lpstr>
      <vt:lpstr>Descripción de la problemática </vt:lpstr>
      <vt:lpstr>Descripción de la problemática </vt:lpstr>
      <vt:lpstr>PowerPoint Presentation</vt:lpstr>
      <vt:lpstr>Estado del arte</vt:lpstr>
      <vt:lpstr>Estado del arte</vt:lpstr>
      <vt:lpstr>Objetivos</vt:lpstr>
      <vt:lpstr>Metodología </vt:lpstr>
      <vt:lpstr>Metodología </vt:lpstr>
      <vt:lpstr>Metodología </vt:lpstr>
      <vt:lpstr>Cronograma</vt:lpstr>
      <vt:lpstr>Resultados esperados</vt:lpstr>
      <vt:lpstr>Bibliografía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JUAN FELIPE AGUILAR SOTELO</dc:creator>
  <cp:lastModifiedBy>JUAN ESTEBAN GAMBA AGUILERA</cp:lastModifiedBy>
  <cp:revision>28</cp:revision>
  <dcterms:created xsi:type="dcterms:W3CDTF">2018-11-30T16:08:44Z</dcterms:created>
  <dcterms:modified xsi:type="dcterms:W3CDTF">2025-12-05T02:26:57Z</dcterms:modified>
</cp:coreProperties>
</file>